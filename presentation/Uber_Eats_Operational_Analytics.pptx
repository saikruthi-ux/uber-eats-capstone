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  <p:embeddedFont>
      <p:font typeface="Space Grotesk Medium"/>
      <p:regular r:id="rId28"/>
      <p:bold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Space Grotesk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SpaceGrotesk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f72847abacd357b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f72847abacd357b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f72847abacd357b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f72847abacd357b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f72847abacd357b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f72847abacd357b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f72847abacd357b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f72847abacd357b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f72847abacd357b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f72847abacd357b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f72847abacd357b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f72847abacd357b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f72847abacd357b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hf72847abacd357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f72847abacd357b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f72847abacd357b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f72847abacd357b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f72847abacd357b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f72847abacd357b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f72847abacd357b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f72847abacd357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hf72847abacd357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f72847abacd357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f72847abacd357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f72847abacd357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hf72847abacd357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f72847abacd357b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f72847abacd357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f72847abacd357b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hf72847abacd357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f72847abacd357b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f72847abacd357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f72847abacd357b_14_0)">
  <p:cSld name="Generated (hf72847abacd357b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57200" y="438150"/>
            <a:ext cx="2133600" cy="190500"/>
            <a:chOff x="0" y="-19050"/>
            <a:chExt cx="2133600" cy="190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228600" y="-190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8" name="Google Shape;58;p14"/>
          <p:cNvSpPr txBox="1"/>
          <p:nvPr/>
        </p:nvSpPr>
        <p:spPr>
          <a:xfrm>
            <a:off x="457200" y="1333500"/>
            <a:ext cx="8229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PROJECT: UBER EATS ANALYTICS</a:t>
            </a:r>
            <a:endParaRPr b="0" sz="825">
              <a:solidFill>
                <a:srgbClr val="06C16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Uber Eats – Operational Analytics &amp; Machine Learning</a:t>
            </a:r>
            <a:endParaRPr b="1"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rPr>
              <a:t>An end-to-end data analytics and machine learning solution</a:t>
            </a:r>
            <a:endParaRPr b="0" sz="1350">
              <a:solidFill>
                <a:srgbClr val="5555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457200" y="3333750"/>
            <a:ext cx="8229600" cy="590550"/>
            <a:chOff x="0" y="0"/>
            <a:chExt cx="8229600" cy="590550"/>
          </a:xfrm>
        </p:grpSpPr>
        <p:sp>
          <p:nvSpPr>
            <p:cNvPr id="60" name="Google Shape;60;p14"/>
            <p:cNvSpPr txBox="1"/>
            <p:nvPr/>
          </p:nvSpPr>
          <p:spPr>
            <a:xfrm>
              <a:off x="0" y="0"/>
              <a:ext cx="822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TECHNOLOGIES &amp; TOOLS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1" name="Google Shape;61;p14"/>
            <p:cNvGrpSpPr/>
            <p:nvPr/>
          </p:nvGrpSpPr>
          <p:grpSpPr>
            <a:xfrm>
              <a:off x="0" y="285750"/>
              <a:ext cx="685800" cy="304800"/>
              <a:chOff x="0" y="0"/>
              <a:chExt cx="685800" cy="304800"/>
            </a:xfrm>
          </p:grpSpPr>
          <p:sp>
            <p:nvSpPr>
              <p:cNvPr id="62" name="Google Shape;62;p14"/>
              <p:cNvSpPr/>
              <p:nvPr/>
            </p:nvSpPr>
            <p:spPr>
              <a:xfrm>
                <a:off x="0" y="0"/>
                <a:ext cx="6858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 txBox="1"/>
              <p:nvPr/>
            </p:nvSpPr>
            <p:spPr>
              <a:xfrm>
                <a:off x="0" y="0"/>
                <a:ext cx="685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Python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4" name="Google Shape;64;p14"/>
            <p:cNvGrpSpPr/>
            <p:nvPr/>
          </p:nvGrpSpPr>
          <p:grpSpPr>
            <a:xfrm>
              <a:off x="781050" y="285750"/>
              <a:ext cx="723900" cy="304800"/>
              <a:chOff x="0" y="0"/>
              <a:chExt cx="723900" cy="3048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0" y="0"/>
                <a:ext cx="7239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 txBox="1"/>
              <p:nvPr/>
            </p:nvSpPr>
            <p:spPr>
              <a:xfrm>
                <a:off x="0" y="0"/>
                <a:ext cx="723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Pandas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7" name="Google Shape;67;p14"/>
            <p:cNvGrpSpPr/>
            <p:nvPr/>
          </p:nvGrpSpPr>
          <p:grpSpPr>
            <a:xfrm>
              <a:off x="1600200" y="285750"/>
              <a:ext cx="685800" cy="304800"/>
              <a:chOff x="0" y="0"/>
              <a:chExt cx="685800" cy="3048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0" y="0"/>
                <a:ext cx="6858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 txBox="1"/>
              <p:nvPr/>
            </p:nvSpPr>
            <p:spPr>
              <a:xfrm>
                <a:off x="0" y="0"/>
                <a:ext cx="685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NumPy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0" name="Google Shape;70;p14"/>
            <p:cNvGrpSpPr/>
            <p:nvPr/>
          </p:nvGrpSpPr>
          <p:grpSpPr>
            <a:xfrm>
              <a:off x="2381250" y="285750"/>
              <a:ext cx="990600" cy="304800"/>
              <a:chOff x="0" y="0"/>
              <a:chExt cx="990600" cy="30480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0" y="0"/>
                <a:ext cx="9906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 txBox="1"/>
              <p:nvPr/>
            </p:nvSpPr>
            <p:spPr>
              <a:xfrm>
                <a:off x="0" y="0"/>
                <a:ext cx="990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Scikit-learn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>
              <a:off x="3467100" y="285750"/>
              <a:ext cx="533400" cy="304800"/>
              <a:chOff x="0" y="0"/>
              <a:chExt cx="533400" cy="30480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0" y="0"/>
                <a:ext cx="5334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 txBox="1"/>
              <p:nvPr/>
            </p:nvSpPr>
            <p:spPr>
              <a:xfrm>
                <a:off x="0" y="0"/>
                <a:ext cx="533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NLP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>
              <a:off x="4095750" y="285750"/>
              <a:ext cx="685800" cy="304800"/>
              <a:chOff x="0" y="0"/>
              <a:chExt cx="685800" cy="304800"/>
            </a:xfrm>
          </p:grpSpPr>
          <p:sp>
            <p:nvSpPr>
              <p:cNvPr id="77" name="Google Shape;77;p14"/>
              <p:cNvSpPr/>
              <p:nvPr/>
            </p:nvSpPr>
            <p:spPr>
              <a:xfrm>
                <a:off x="0" y="0"/>
                <a:ext cx="6858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 txBox="1"/>
              <p:nvPr/>
            </p:nvSpPr>
            <p:spPr>
              <a:xfrm>
                <a:off x="0" y="0"/>
                <a:ext cx="685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ARIMA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9" name="Google Shape;79;p14"/>
            <p:cNvGrpSpPr/>
            <p:nvPr/>
          </p:nvGrpSpPr>
          <p:grpSpPr>
            <a:xfrm>
              <a:off x="4876800" y="285750"/>
              <a:ext cx="743100" cy="304800"/>
              <a:chOff x="0" y="0"/>
              <a:chExt cx="743100" cy="3048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0" y="0"/>
                <a:ext cx="7431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0" y="0"/>
                <a:ext cx="74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Prophet</a:t>
                </a:r>
                <a:endParaRPr b="0" sz="97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457200" y="3619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Understanding &amp; Improving Uber Eats Marketplace Operations</a:t>
            </a:r>
            <a:endParaRPr b="1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457200" y="8382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" name="Google Shape;88;p15"/>
          <p:cNvGrpSpPr/>
          <p:nvPr/>
        </p:nvGrpSpPr>
        <p:grpSpPr>
          <a:xfrm>
            <a:off x="457200" y="1047750"/>
            <a:ext cx="3619500" cy="3371850"/>
            <a:chOff x="457200" y="1047750"/>
            <a:chExt cx="3619500" cy="3371850"/>
          </a:xfrm>
        </p:grpSpPr>
        <p:sp>
          <p:nvSpPr>
            <p:cNvPr id="89" name="Google Shape;89;p15"/>
            <p:cNvSpPr txBox="1"/>
            <p:nvPr/>
          </p:nvSpPr>
          <p:spPr>
            <a:xfrm>
              <a:off x="457200" y="104775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MARKETPLACE OVERVIEW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457200" y="1257300"/>
              <a:ext cx="3619500" cy="1352700"/>
            </a:xfrm>
            <a:prstGeom prst="roundRect">
              <a:avLst>
                <a:gd fmla="val 422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628650" y="1390650"/>
              <a:ext cx="3276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Three-Sided Ecosystem</a:t>
              </a:r>
              <a:endParaRPr b="0" sz="97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2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Uber Eats operates a complex marketplace connecting customers, restaurants, and delivery partners in real time.</a:t>
              </a:r>
              <a:endParaRPr b="0" sz="902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" name="Google Shape;92;p15"/>
            <p:cNvGrpSpPr/>
            <p:nvPr/>
          </p:nvGrpSpPr>
          <p:grpSpPr>
            <a:xfrm>
              <a:off x="628650" y="2114550"/>
              <a:ext cx="3276600" cy="324000"/>
              <a:chOff x="0" y="0"/>
              <a:chExt cx="3276600" cy="3240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0"/>
                <a:ext cx="9906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Customers</a:t>
                </a:r>
                <a:endParaRPr b="0" sz="82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1066800" y="0"/>
                <a:ext cx="9906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106680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Restaurants</a:t>
                </a:r>
                <a:endParaRPr b="0" sz="82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133600" y="0"/>
                <a:ext cx="1143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2133600" y="0"/>
                <a:ext cx="1143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Delivery Partners</a:t>
                </a:r>
                <a:endParaRPr b="0" sz="825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99" name="Google Shape;99;p15"/>
            <p:cNvSpPr txBox="1"/>
            <p:nvPr/>
          </p:nvSpPr>
          <p:spPr>
            <a:xfrm>
              <a:off x="457200" y="2800350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OBJECTIVE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57200" y="3009900"/>
              <a:ext cx="3619500" cy="1409700"/>
            </a:xfrm>
            <a:prstGeom prst="roundRect">
              <a:avLst>
                <a:gd fmla="val 4054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57200" y="3009900"/>
              <a:ext cx="38100" cy="14097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647700" y="3143250"/>
              <a:ext cx="3257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Science &amp; Decision Support</a:t>
              </a:r>
              <a:endParaRPr b="0" sz="105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Focuses on identifying operational patterns and developing machine learning solutions to support better business decisions.</a:t>
              </a:r>
              <a:endParaRPr b="0" sz="975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Goal: Actionable insights to improve customer experience, delivery operations, and demand planning.</a:t>
              </a:r>
              <a:endParaRPr b="0" sz="900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4381500" y="1047750"/>
            <a:ext cx="4305300" cy="3352950"/>
            <a:chOff x="4381500" y="1047750"/>
            <a:chExt cx="4305300" cy="335295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4381500" y="1047750"/>
              <a:ext cx="430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BUSINESS CHALLENGES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05" name="Google Shape;105;p15"/>
            <p:cNvGrpSpPr/>
            <p:nvPr/>
          </p:nvGrpSpPr>
          <p:grpSpPr>
            <a:xfrm>
              <a:off x="4381500" y="1257300"/>
              <a:ext cx="4305300" cy="552600"/>
              <a:chOff x="0" y="0"/>
              <a:chExt cx="4305300" cy="552600"/>
            </a:xfrm>
          </p:grpSpPr>
          <p:sp>
            <p:nvSpPr>
              <p:cNvPr id="106" name="Google Shape;106;p15"/>
              <p:cNvSpPr/>
              <p:nvPr/>
            </p:nvSpPr>
            <p:spPr>
              <a:xfrm>
                <a:off x="0" y="0"/>
                <a:ext cx="43053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114300" y="104775"/>
                <a:ext cx="342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114300" y="10477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</a:t>
                </a:r>
                <a:endParaRPr b="1" sz="975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571500" y="952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Understanding Purchasing Behavior</a:t>
                </a:r>
                <a:endParaRPr b="0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Analyzing customer order patterns and basket dynamics</a:t>
                </a:r>
                <a:endParaRPr b="0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0" name="Google Shape;110;p15"/>
            <p:cNvGrpSpPr/>
            <p:nvPr/>
          </p:nvGrpSpPr>
          <p:grpSpPr>
            <a:xfrm>
              <a:off x="4381500" y="1905000"/>
              <a:ext cx="4305300" cy="552600"/>
              <a:chOff x="0" y="0"/>
              <a:chExt cx="4305300" cy="552600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0" y="0"/>
                <a:ext cx="43053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114300" y="104775"/>
                <a:ext cx="342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114300" y="10477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</a:t>
                </a:r>
                <a:endParaRPr b="1" sz="975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571500" y="952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Identifying Restaurant Performance Patterns</a:t>
                </a:r>
                <a:endParaRPr b="0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Evaluating operational throughput and prep efficiency</a:t>
                </a:r>
                <a:endParaRPr b="0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4381500" y="2552700"/>
              <a:ext cx="4305300" cy="552600"/>
              <a:chOff x="0" y="0"/>
              <a:chExt cx="4305300" cy="5526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0" y="0"/>
                <a:ext cx="43053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114300" y="104775"/>
                <a:ext cx="342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114300" y="10477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</a:t>
                </a:r>
                <a:endParaRPr b="1" sz="975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571500" y="952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Analyzing Negative Feedback</a:t>
                </a:r>
                <a:endParaRPr b="0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Uncovering operational root causes of dissatisfaction</a:t>
                </a:r>
                <a:endParaRPr b="0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0" name="Google Shape;120;p15"/>
            <p:cNvGrpSpPr/>
            <p:nvPr/>
          </p:nvGrpSpPr>
          <p:grpSpPr>
            <a:xfrm>
              <a:off x="4381500" y="3200400"/>
              <a:ext cx="4305300" cy="552600"/>
              <a:chOff x="0" y="0"/>
              <a:chExt cx="4305300" cy="5526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0" y="0"/>
                <a:ext cx="43053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114300" y="104775"/>
                <a:ext cx="342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114300" y="10477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04</a:t>
                </a:r>
                <a:endParaRPr b="1" sz="975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24" name="Google Shape;124;p15"/>
              <p:cNvSpPr txBox="1"/>
              <p:nvPr/>
            </p:nvSpPr>
            <p:spPr>
              <a:xfrm>
                <a:off x="571500" y="952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Predicting Delivery Times</a:t>
                </a:r>
                <a:endParaRPr b="0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Improving estimated time of arrival (ETA) precision</a:t>
                </a:r>
                <a:endParaRPr b="0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5" name="Google Shape;125;p15"/>
            <p:cNvGrpSpPr/>
            <p:nvPr/>
          </p:nvGrpSpPr>
          <p:grpSpPr>
            <a:xfrm>
              <a:off x="4381500" y="3848100"/>
              <a:ext cx="4305300" cy="552600"/>
              <a:chOff x="0" y="0"/>
              <a:chExt cx="4305300" cy="552600"/>
            </a:xfrm>
          </p:grpSpPr>
          <p:sp>
            <p:nvSpPr>
              <p:cNvPr id="126" name="Google Shape;126;p15"/>
              <p:cNvSpPr/>
              <p:nvPr/>
            </p:nvSpPr>
            <p:spPr>
              <a:xfrm>
                <a:off x="0" y="0"/>
                <a:ext cx="43053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114300" y="104775"/>
                <a:ext cx="3429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5"/>
              <p:cNvSpPr txBox="1"/>
              <p:nvPr/>
            </p:nvSpPr>
            <p:spPr>
              <a:xfrm>
                <a:off x="114300" y="10477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05</a:t>
                </a:r>
                <a:endParaRPr b="1" sz="975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571500" y="952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Forecasting Hourly Demand</a:t>
                </a:r>
                <a:endParaRPr b="0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Optimizing courier positioning and marketplace equilibrium</a:t>
                </a:r>
                <a:endParaRPr b="0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0" name="Google Shape;130;p15"/>
          <p:cNvGrpSpPr/>
          <p:nvPr/>
        </p:nvGrpSpPr>
        <p:grpSpPr>
          <a:xfrm>
            <a:off x="7429500" y="4686300"/>
            <a:ext cx="1752600" cy="190500"/>
            <a:chOff x="0" y="0"/>
            <a:chExt cx="1752600" cy="190500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228600" y="0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Synthetic Dataset Generation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9" name="Google Shape;139;p16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" name="Google Shape;140;p16"/>
          <p:cNvGrpSpPr/>
          <p:nvPr/>
        </p:nvGrpSpPr>
        <p:grpSpPr>
          <a:xfrm>
            <a:off x="6781800" y="4686300"/>
            <a:ext cx="2133600" cy="190500"/>
            <a:chOff x="0" y="0"/>
            <a:chExt cx="2133600" cy="1905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457200" y="1009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Seven related datasets were synthetically generated using Python, Pandas, and NumPy to represent a comprehensive Uber Eats-style marketplace. The structured data maintains strict relationships through foreign keys and features unique identifiers for all records, ensuring high suitability for complex analytical tasks and machine learning applications.</a:t>
            </a:r>
            <a:endParaRPr b="0" sz="10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488" y="2133600"/>
            <a:ext cx="25623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047875"/>
            <a:ext cx="19200" cy="10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6288" y="2133600"/>
            <a:ext cx="25623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5488" y="3048000"/>
            <a:ext cx="25623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2475" y="3048000"/>
            <a:ext cx="19200" cy="10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6288" y="3048000"/>
            <a:ext cx="25623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3810000" y="2762250"/>
            <a:ext cx="1524000" cy="571500"/>
            <a:chOff x="0" y="0"/>
            <a:chExt cx="1524000" cy="5715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1524000" cy="5715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 cap="flat" cmpd="sng" w="19050">
              <a:solidFill>
                <a:srgbClr val="06C1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Orders</a:t>
              </a:r>
              <a:endParaRPr b="1" sz="1125">
                <a:solidFill>
                  <a:srgbClr val="06C16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[Central Dataset]</a:t>
              </a:r>
              <a:endParaRPr b="0" sz="8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6"/>
          <p:cNvGrpSpPr/>
          <p:nvPr/>
        </p:nvGrpSpPr>
        <p:grpSpPr>
          <a:xfrm>
            <a:off x="1333500" y="1857375"/>
            <a:ext cx="1333500" cy="476400"/>
            <a:chOff x="0" y="0"/>
            <a:chExt cx="1333500" cy="476400"/>
          </a:xfrm>
        </p:grpSpPr>
        <p:sp>
          <p:nvSpPr>
            <p:cNvPr id="154" name="Google Shape;154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Customers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customer_id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3905250" y="1714500"/>
            <a:ext cx="1333500" cy="476400"/>
            <a:chOff x="0" y="0"/>
            <a:chExt cx="1333500" cy="4764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Deliveries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delivery_id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6477000" y="1857375"/>
            <a:ext cx="1333500" cy="476400"/>
            <a:chOff x="0" y="0"/>
            <a:chExt cx="1333500" cy="476400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Restaurants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restaurant_id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6"/>
          <p:cNvGrpSpPr/>
          <p:nvPr/>
        </p:nvGrpSpPr>
        <p:grpSpPr>
          <a:xfrm>
            <a:off x="1333500" y="3714750"/>
            <a:ext cx="1333500" cy="476400"/>
            <a:chOff x="0" y="0"/>
            <a:chExt cx="1333500" cy="4764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Drivers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driver_id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3905250" y="3905250"/>
            <a:ext cx="1333500" cy="476400"/>
            <a:chOff x="0" y="0"/>
            <a:chExt cx="1333500" cy="4764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Payments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payment_id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6477000" y="3714750"/>
            <a:ext cx="1333500" cy="476400"/>
            <a:chOff x="0" y="0"/>
            <a:chExt cx="1333500" cy="476400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1333500" cy="4764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Reviews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FK: review_id</a:t>
              </a:r>
              <a:endParaRPr b="0" sz="7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457200" y="4648200"/>
            <a:ext cx="2000100" cy="228600"/>
            <a:chOff x="0" y="0"/>
            <a:chExt cx="2000100" cy="228600"/>
          </a:xfrm>
        </p:grpSpPr>
        <p:sp>
          <p:nvSpPr>
            <p:cNvPr id="172" name="Google Shape;172;p16"/>
            <p:cNvSpPr/>
            <p:nvPr/>
          </p:nvSpPr>
          <p:spPr>
            <a:xfrm>
              <a:off x="0" y="0"/>
              <a:ext cx="2000100" cy="2286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114300" y="28575"/>
              <a:ext cx="1771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7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STACK: PYTHON • PANDAS • NUMPY</a:t>
              </a:r>
              <a:endParaRPr b="0" sz="67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Preparing Data for Analysis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9" name="Google Shape;179;p17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p17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181" name="Google Shape;181;p17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3" name="Google Shape;183;p17"/>
          <p:cNvSpPr txBox="1"/>
          <p:nvPr/>
        </p:nvSpPr>
        <p:spPr>
          <a:xfrm>
            <a:off x="457200" y="1143000"/>
            <a:ext cx="4191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rPr>
              <a:t>Rigorous Data Pipeline</a:t>
            </a:r>
            <a:endParaRPr b="0" sz="1350">
              <a:solidFill>
                <a:srgbClr val="333333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Rigorous data preparation was performed prior to applying machine learning techniques. Key activities included inspecting dimensions, handling missing values, validating unique identifiers, and converting timestamps.</a:t>
            </a:r>
            <a:endParaRPr b="0" sz="10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Analytical features were prepared for segmentation, sentiment analysis, regression, and forecasting.</a:t>
            </a:r>
            <a:endParaRPr b="0" sz="10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900"/>
              </a:spcAft>
              <a:buNone/>
            </a:pPr>
            <a:r>
              <a:rPr b="0" lang="en" sz="105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High data quality ensures model reliability across downstream analytics tasks.</a:t>
            </a:r>
            <a:endParaRPr b="0" sz="105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4" name="Google Shape;184;p17"/>
          <p:cNvGrpSpPr/>
          <p:nvPr/>
        </p:nvGrpSpPr>
        <p:grpSpPr>
          <a:xfrm>
            <a:off x="4876800" y="1143000"/>
            <a:ext cx="3810000" cy="3162300"/>
            <a:chOff x="0" y="0"/>
            <a:chExt cx="3810000" cy="3162300"/>
          </a:xfrm>
        </p:grpSpPr>
        <p:grpSp>
          <p:nvGrpSpPr>
            <p:cNvPr id="185" name="Google Shape;185;p17"/>
            <p:cNvGrpSpPr/>
            <p:nvPr/>
          </p:nvGrpSpPr>
          <p:grpSpPr>
            <a:xfrm>
              <a:off x="0" y="0"/>
              <a:ext cx="3810000" cy="952500"/>
              <a:chOff x="0" y="0"/>
              <a:chExt cx="3810000" cy="952500"/>
            </a:xfrm>
          </p:grpSpPr>
          <p:sp>
            <p:nvSpPr>
              <p:cNvPr id="186" name="Google Shape;186;p17"/>
              <p:cNvSpPr/>
              <p:nvPr/>
            </p:nvSpPr>
            <p:spPr>
              <a:xfrm>
                <a:off x="0" y="0"/>
                <a:ext cx="38100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7"/>
              <p:cNvSpPr txBox="1"/>
              <p:nvPr/>
            </p:nvSpPr>
            <p:spPr>
              <a:xfrm>
                <a:off x="228600" y="190500"/>
                <a:ext cx="3352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16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ORDER DATASET</a:t>
                </a:r>
                <a:endParaRPr b="0" sz="516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688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5,000</a:t>
                </a:r>
                <a:endParaRPr b="1" sz="1688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563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Records (0 missing in Day 5 profiling)</a:t>
                </a:r>
                <a:endParaRPr b="0" sz="563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0" y="1104900"/>
              <a:ext cx="3810000" cy="952500"/>
              <a:chOff x="0" y="0"/>
              <a:chExt cx="3810000" cy="9525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0" y="0"/>
                <a:ext cx="38100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 txBox="1"/>
              <p:nvPr/>
            </p:nvSpPr>
            <p:spPr>
              <a:xfrm>
                <a:off x="228600" y="190500"/>
                <a:ext cx="3352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16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REVIEW DATASET</a:t>
                </a:r>
                <a:endParaRPr b="0" sz="516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688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1,871</a:t>
                </a:r>
                <a:endParaRPr b="1" sz="1688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563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Records (15 unique templates)</a:t>
                </a:r>
                <a:endParaRPr b="0" sz="563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1" name="Google Shape;191;p17"/>
            <p:cNvGrpSpPr/>
            <p:nvPr/>
          </p:nvGrpSpPr>
          <p:grpSpPr>
            <a:xfrm>
              <a:off x="0" y="2209800"/>
              <a:ext cx="3810000" cy="952500"/>
              <a:chOff x="0" y="0"/>
              <a:chExt cx="3810000" cy="952500"/>
            </a:xfrm>
          </p:grpSpPr>
          <p:sp>
            <p:nvSpPr>
              <p:cNvPr id="192" name="Google Shape;192;p17"/>
              <p:cNvSpPr/>
              <p:nvPr/>
            </p:nvSpPr>
            <p:spPr>
              <a:xfrm>
                <a:off x="0" y="0"/>
                <a:ext cx="38100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7"/>
              <p:cNvSpPr txBox="1"/>
              <p:nvPr/>
            </p:nvSpPr>
            <p:spPr>
              <a:xfrm>
                <a:off x="228600" y="190500"/>
                <a:ext cx="3352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16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DELIVERY-TIME REGRESSION</a:t>
                </a:r>
                <a:endParaRPr b="0" sz="516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688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2,879</a:t>
                </a:r>
                <a:endParaRPr b="1" sz="1688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563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Records prepared for analysis</a:t>
                </a:r>
                <a:endParaRPr b="0" sz="563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Identifying Similar Customers and Restaurants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9" name="Google Shape;199;p18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8"/>
          <p:cNvSpPr txBox="1"/>
          <p:nvPr/>
        </p:nvSpPr>
        <p:spPr>
          <a:xfrm>
            <a:off x="457200" y="97155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13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Customers and restaurants were grouped based on behavior and operational characteristics using K-Means, DBSCAN, and PCA.</a:t>
            </a:r>
            <a:endParaRPr b="0" sz="1013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457200" y="131445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SEGMENTATION</a:t>
            </a:r>
            <a:endParaRPr b="0" sz="825">
              <a:solidFill>
                <a:srgbClr val="06C16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1,000 records across 13 features</a:t>
            </a:r>
            <a:endParaRPr b="0" sz="90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2" name="Google Shape;202;p18"/>
          <p:cNvGrpSpPr/>
          <p:nvPr/>
        </p:nvGrpSpPr>
        <p:grpSpPr>
          <a:xfrm>
            <a:off x="457200" y="1733550"/>
            <a:ext cx="3962400" cy="952500"/>
            <a:chOff x="0" y="0"/>
            <a:chExt cx="3962400" cy="952500"/>
          </a:xfrm>
        </p:grpSpPr>
        <p:sp>
          <p:nvSpPr>
            <p:cNvPr id="203" name="Google Shape;203;p18"/>
            <p:cNvSpPr/>
            <p:nvPr/>
          </p:nvSpPr>
          <p:spPr>
            <a:xfrm>
              <a:off x="0" y="0"/>
              <a:ext cx="3962400" cy="952500"/>
            </a:xfrm>
            <a:prstGeom prst="roundRect">
              <a:avLst>
                <a:gd fmla="val 4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190500" y="114300"/>
              <a:ext cx="35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K-MEANS CLUSTERING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0000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 </a:t>
              </a:r>
              <a:r>
                <a:rPr b="0" lang="en" sz="10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Clusters Identified</a:t>
              </a:r>
              <a:endParaRPr b="1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Silhouette Score: </a:t>
              </a: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0.262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457200" y="2781300"/>
            <a:ext cx="3962400" cy="952500"/>
            <a:chOff x="0" y="0"/>
            <a:chExt cx="3962400" cy="9525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3962400" cy="952500"/>
            </a:xfrm>
            <a:prstGeom prst="roundRect">
              <a:avLst>
                <a:gd fmla="val 4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190500" y="114300"/>
              <a:ext cx="35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DBSCAN CLUSTERING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0000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 </a:t>
              </a:r>
              <a:r>
                <a:rPr b="0" lang="en" sz="10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Clusters Found</a:t>
              </a:r>
              <a:endParaRPr b="1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Noise Level: </a:t>
              </a: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9% noise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0" name="Google Shape;210;p18"/>
          <p:cNvSpPr txBox="1"/>
          <p:nvPr/>
        </p:nvSpPr>
        <p:spPr>
          <a:xfrm>
            <a:off x="4724400" y="131445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RESTAURANT SEGMENTATION</a:t>
            </a:r>
            <a:endParaRPr b="0" sz="825">
              <a:solidFill>
                <a:srgbClr val="06C16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100 records across 14 features</a:t>
            </a:r>
            <a:endParaRPr b="0" sz="900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1" name="Google Shape;211;p18"/>
          <p:cNvGrpSpPr/>
          <p:nvPr/>
        </p:nvGrpSpPr>
        <p:grpSpPr>
          <a:xfrm>
            <a:off x="4724400" y="1733550"/>
            <a:ext cx="3962400" cy="952500"/>
            <a:chOff x="0" y="0"/>
            <a:chExt cx="3962400" cy="952500"/>
          </a:xfrm>
        </p:grpSpPr>
        <p:sp>
          <p:nvSpPr>
            <p:cNvPr id="212" name="Google Shape;212;p18"/>
            <p:cNvSpPr/>
            <p:nvPr/>
          </p:nvSpPr>
          <p:spPr>
            <a:xfrm>
              <a:off x="0" y="0"/>
              <a:ext cx="3962400" cy="952500"/>
            </a:xfrm>
            <a:prstGeom prst="roundRect">
              <a:avLst>
                <a:gd fmla="val 4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190500" y="114300"/>
              <a:ext cx="35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K-MEANS CLUSTERING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0000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 </a:t>
              </a:r>
              <a:r>
                <a:rPr b="0" lang="en" sz="10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Clusters Identified</a:t>
              </a:r>
              <a:endParaRPr b="1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Silhouette Score: </a:t>
              </a: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0.305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5" name="Google Shape;215;p18"/>
          <p:cNvGrpSpPr/>
          <p:nvPr/>
        </p:nvGrpSpPr>
        <p:grpSpPr>
          <a:xfrm>
            <a:off x="4724400" y="2781300"/>
            <a:ext cx="3962400" cy="952500"/>
            <a:chOff x="0" y="0"/>
            <a:chExt cx="3962400" cy="9525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3962400" cy="952500"/>
            </a:xfrm>
            <a:prstGeom prst="roundRect">
              <a:avLst>
                <a:gd fmla="val 4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190500" y="114300"/>
              <a:ext cx="35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DBSCAN CLUSTERING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0000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 </a:t>
              </a:r>
              <a:r>
                <a:rPr b="0" lang="en" sz="10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Clusters Found</a:t>
              </a:r>
              <a:endParaRPr b="1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Noise Level: </a:t>
              </a: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19% noise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18"/>
          <p:cNvGrpSpPr/>
          <p:nvPr/>
        </p:nvGrpSpPr>
        <p:grpSpPr>
          <a:xfrm>
            <a:off x="457200" y="3886200"/>
            <a:ext cx="8229600" cy="628800"/>
            <a:chOff x="0" y="0"/>
            <a:chExt cx="8229600" cy="628800"/>
          </a:xfrm>
        </p:grpSpPr>
        <p:sp>
          <p:nvSpPr>
            <p:cNvPr id="220" name="Google Shape;220;p18"/>
            <p:cNvSpPr/>
            <p:nvPr/>
          </p:nvSpPr>
          <p:spPr>
            <a:xfrm>
              <a:off x="0" y="0"/>
              <a:ext cx="8229600" cy="628800"/>
            </a:xfrm>
            <a:prstGeom prst="roundRect">
              <a:avLst>
                <a:gd fmla="val 606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0" y="0"/>
              <a:ext cx="38100" cy="6288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190500" y="114300"/>
              <a:ext cx="784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MODELING TAKEAWAY</a:t>
              </a:r>
              <a:endParaRPr b="0" sz="750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K-Means provided distinct business segments, whereas DBSCAN successfully isolated dense groups and potential outliers.</a:t>
              </a:r>
              <a:endParaRPr b="0" sz="97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Did the Segments Reveal?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1" name="Google Shape;231;p19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2" name="Google Shape;232;p19"/>
          <p:cNvGrpSpPr/>
          <p:nvPr/>
        </p:nvGrpSpPr>
        <p:grpSpPr>
          <a:xfrm>
            <a:off x="457200" y="1085850"/>
            <a:ext cx="4000500" cy="1047900"/>
            <a:chOff x="0" y="0"/>
            <a:chExt cx="4000500" cy="10479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4000500" cy="1047900"/>
            </a:xfrm>
            <a:prstGeom prst="roundRect">
              <a:avLst>
                <a:gd fmla="val 363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266700" y="190500"/>
              <a:ext cx="3467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TOP CUSTOMER AVG SPEND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b="1" lang="en" sz="2700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6,949.61</a:t>
              </a:r>
              <a:endParaRPr b="1" sz="2700">
                <a:solidFill>
                  <a:srgbClr val="06C16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4686300" y="1085850"/>
            <a:ext cx="4000500" cy="1047900"/>
            <a:chOff x="0" y="0"/>
            <a:chExt cx="4000500" cy="1047900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4000500" cy="1047900"/>
            </a:xfrm>
            <a:prstGeom prst="roundRect">
              <a:avLst>
                <a:gd fmla="val 363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266700" y="190500"/>
              <a:ext cx="3467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RESTAURANT CANCELLATION RATE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b="1" lang="en" sz="2700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21–22%</a:t>
              </a:r>
              <a:endParaRPr b="1" sz="2700">
                <a:solidFill>
                  <a:srgbClr val="06C16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38" name="Google Shape;238;p19"/>
          <p:cNvGrpSpPr/>
          <p:nvPr/>
        </p:nvGrpSpPr>
        <p:grpSpPr>
          <a:xfrm>
            <a:off x="457200" y="2362200"/>
            <a:ext cx="4000500" cy="1009800"/>
            <a:chOff x="0" y="0"/>
            <a:chExt cx="4000500" cy="1009800"/>
          </a:xfrm>
        </p:grpSpPr>
        <p:sp>
          <p:nvSpPr>
            <p:cNvPr id="239" name="Google Shape;239;p19"/>
            <p:cNvSpPr/>
            <p:nvPr/>
          </p:nvSpPr>
          <p:spPr>
            <a:xfrm>
              <a:off x="0" y="0"/>
              <a:ext cx="4000500" cy="1009800"/>
            </a:xfrm>
            <a:prstGeom prst="roundRect">
              <a:avLst>
                <a:gd fmla="val 377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228600" y="152400"/>
              <a:ext cx="3543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High-Value Customer Loyalty</a:t>
              </a:r>
              <a:endParaRPr b="0" sz="1125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Top cluster averages 8.48 orders with 6,949.61 spend, representing a prime target for loyalty campaigns.</a:t>
              </a:r>
              <a:endParaRPr b="0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4686300" y="2362200"/>
            <a:ext cx="4000500" cy="1009800"/>
            <a:chOff x="0" y="0"/>
            <a:chExt cx="4000500" cy="1009800"/>
          </a:xfrm>
        </p:grpSpPr>
        <p:sp>
          <p:nvSpPr>
            <p:cNvPr id="242" name="Google Shape;242;p19"/>
            <p:cNvSpPr/>
            <p:nvPr/>
          </p:nvSpPr>
          <p:spPr>
            <a:xfrm>
              <a:off x="0" y="0"/>
              <a:ext cx="4000500" cy="1009800"/>
            </a:xfrm>
            <a:prstGeom prst="roundRect">
              <a:avLst>
                <a:gd fmla="val 377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228600" y="152400"/>
              <a:ext cx="3543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Operational Interventions</a:t>
              </a:r>
              <a:endParaRPr b="0" sz="1125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High cancellation rates (21–22%) in select clusters mark underperforming restaurant partners as priorities for operational investigation.</a:t>
              </a:r>
              <a:endParaRPr b="0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4" name="Google Shape;244;p19"/>
          <p:cNvGrpSpPr/>
          <p:nvPr/>
        </p:nvGrpSpPr>
        <p:grpSpPr>
          <a:xfrm>
            <a:off x="457200" y="3505200"/>
            <a:ext cx="4000500" cy="1009800"/>
            <a:chOff x="0" y="0"/>
            <a:chExt cx="4000500" cy="1009800"/>
          </a:xfrm>
        </p:grpSpPr>
        <p:sp>
          <p:nvSpPr>
            <p:cNvPr id="245" name="Google Shape;245;p19"/>
            <p:cNvSpPr/>
            <p:nvPr/>
          </p:nvSpPr>
          <p:spPr>
            <a:xfrm>
              <a:off x="0" y="0"/>
              <a:ext cx="4000500" cy="1009800"/>
            </a:xfrm>
            <a:prstGeom prst="roundRect">
              <a:avLst>
                <a:gd fmla="val 377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228600" y="152400"/>
              <a:ext cx="3543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Lower-Activity User Re-targeting</a:t>
              </a:r>
              <a:endParaRPr b="0" sz="1125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Identification of lower-activity users enables tailored engagement strategies to increase order frequency and retention.</a:t>
              </a:r>
              <a:endParaRPr b="0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4686300" y="3505200"/>
            <a:ext cx="4000500" cy="1009800"/>
            <a:chOff x="0" y="0"/>
            <a:chExt cx="4000500" cy="10098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4000500" cy="1009800"/>
            </a:xfrm>
            <a:prstGeom prst="roundRect">
              <a:avLst>
                <a:gd fmla="val 377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228600" y="152400"/>
              <a:ext cx="3543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Multi-Metric Partner Assessment</a:t>
              </a:r>
              <a:endParaRPr b="0" sz="1125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Restaurant clusters revealed significant differences in revenue, ratings, and prep time for holistic partner evaluations.</a:t>
              </a:r>
              <a:endParaRPr b="0" sz="9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251" name="Google Shape;251;p19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Understanding Customer Feedback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9" name="Google Shape;259;p20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0"/>
          <p:cNvSpPr txBox="1"/>
          <p:nvPr/>
        </p:nvSpPr>
        <p:spPr>
          <a:xfrm>
            <a:off x="457200" y="1000125"/>
            <a:ext cx="8229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Customer reviews were analyzed and classified into sentiment categories using text cleaning, normalization, and TF-IDF transformation.</a:t>
            </a:r>
            <a:endParaRPr b="0" sz="975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1" name="Google Shape;261;p20"/>
          <p:cNvGrpSpPr/>
          <p:nvPr/>
        </p:nvGrpSpPr>
        <p:grpSpPr>
          <a:xfrm>
            <a:off x="457200" y="1381125"/>
            <a:ext cx="4000500" cy="2019150"/>
            <a:chOff x="0" y="0"/>
            <a:chExt cx="4000500" cy="2019150"/>
          </a:xfrm>
        </p:grpSpPr>
        <p:sp>
          <p:nvSpPr>
            <p:cNvPr id="262" name="Google Shape;262;p20"/>
            <p:cNvSpPr/>
            <p:nvPr/>
          </p:nvSpPr>
          <p:spPr>
            <a:xfrm>
              <a:off x="0" y="0"/>
              <a:ext cx="4000500" cy="19200"/>
            </a:xfrm>
            <a:prstGeom prst="rect">
              <a:avLst/>
            </a:prstGeom>
            <a:solidFill>
              <a:srgbClr val="7777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0" y="19050"/>
              <a:ext cx="4000500" cy="2000100"/>
            </a:xfrm>
            <a:prstGeom prst="roundRect">
              <a:avLst>
                <a:gd fmla="val 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 txBox="1"/>
            <p:nvPr/>
          </p:nvSpPr>
          <p:spPr>
            <a:xfrm>
              <a:off x="228600" y="209550"/>
              <a:ext cx="35433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 MODEL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TF-IDF + Multinomial Naive Bayes</a:t>
              </a:r>
              <a:endParaRPr b="0" sz="13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Accuracy:</a:t>
              </a: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43.59%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Precision:</a:t>
              </a: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64.40%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Recall:</a:t>
              </a: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43.59%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Weighted F1 Score:</a:t>
              </a:r>
              <a:r>
                <a:rPr b="0" lang="en" sz="97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47.85%</a:t>
              </a:r>
              <a:endParaRPr b="0" sz="97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20"/>
          <p:cNvGrpSpPr/>
          <p:nvPr/>
        </p:nvGrpSpPr>
        <p:grpSpPr>
          <a:xfrm>
            <a:off x="4686300" y="1381125"/>
            <a:ext cx="4000500" cy="2019150"/>
            <a:chOff x="0" y="0"/>
            <a:chExt cx="4000500" cy="2019150"/>
          </a:xfrm>
        </p:grpSpPr>
        <p:sp>
          <p:nvSpPr>
            <p:cNvPr id="266" name="Google Shape;266;p20"/>
            <p:cNvSpPr/>
            <p:nvPr/>
          </p:nvSpPr>
          <p:spPr>
            <a:xfrm>
              <a:off x="0" y="0"/>
              <a:ext cx="4000500" cy="19200"/>
            </a:xfrm>
            <a:prstGeom prst="rect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0" y="19050"/>
              <a:ext cx="4000500" cy="2000100"/>
            </a:xfrm>
            <a:prstGeom prst="roundRect">
              <a:avLst>
                <a:gd fmla="val 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228600" y="209550"/>
              <a:ext cx="35433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SELECTED MODEL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6C16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VADER Sentiment Analysis</a:t>
              </a:r>
              <a:endParaRPr b="0" sz="1350">
                <a:solidFill>
                  <a:srgbClr val="06C16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Accuracy: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84.86%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Weighted Precision: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77.64%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Weighted Recall: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84.86%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Weighted F1 Score: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79.97%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457200" y="3571875"/>
            <a:ext cx="8229600" cy="857400"/>
            <a:chOff x="0" y="0"/>
            <a:chExt cx="8229600" cy="857400"/>
          </a:xfrm>
        </p:grpSpPr>
        <p:sp>
          <p:nvSpPr>
            <p:cNvPr id="270" name="Google Shape;270;p20"/>
            <p:cNvSpPr/>
            <p:nvPr/>
          </p:nvSpPr>
          <p:spPr>
            <a:xfrm>
              <a:off x="0" y="0"/>
              <a:ext cx="8229600" cy="8574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0" y="0"/>
              <a:ext cx="38100" cy="8574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304800" y="171450"/>
              <a:ext cx="7620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TAKEAWAY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VADER performed significantly better on the evaluation dataset and was selected as the superior model for feedback classification.</a:t>
              </a:r>
              <a:endParaRPr b="0" sz="1125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274" name="Google Shape;274;p20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1"/>
          <p:cNvGrpSpPr/>
          <p:nvPr/>
        </p:nvGrpSpPr>
        <p:grpSpPr>
          <a:xfrm>
            <a:off x="457200" y="381000"/>
            <a:ext cx="9105900" cy="4495800"/>
            <a:chOff x="457200" y="381000"/>
            <a:chExt cx="9105900" cy="4495800"/>
          </a:xfrm>
        </p:grpSpPr>
        <p:sp>
          <p:nvSpPr>
            <p:cNvPr id="281" name="Google Shape;281;p21"/>
            <p:cNvSpPr txBox="1"/>
            <p:nvPr/>
          </p:nvSpPr>
          <p:spPr>
            <a:xfrm>
              <a:off x="457200" y="3810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Identifying Common Complaint Themes</a:t>
              </a:r>
              <a:endParaRPr b="1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82" name="Google Shape;282;p21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83" name="Google Shape;283;p21"/>
            <p:cNvGrpSpPr/>
            <p:nvPr/>
          </p:nvGrpSpPr>
          <p:grpSpPr>
            <a:xfrm>
              <a:off x="7429500" y="4686300"/>
              <a:ext cx="2133600" cy="190500"/>
              <a:chOff x="0" y="0"/>
              <a:chExt cx="2133600" cy="190500"/>
            </a:xfrm>
          </p:grpSpPr>
          <p:sp>
            <p:nvSpPr>
              <p:cNvPr id="284" name="Google Shape;284;p21"/>
              <p:cNvSpPr/>
              <p:nvPr/>
            </p:nvSpPr>
            <p:spPr>
              <a:xfrm>
                <a:off x="0" y="0"/>
                <a:ext cx="1524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1"/>
              <p:cNvSpPr txBox="1"/>
              <p:nvPr/>
            </p:nvSpPr>
            <p:spPr>
              <a:xfrm>
                <a:off x="228600" y="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ANALYTICS &amp; ML</a:t>
                </a:r>
                <a:endParaRPr b="1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6" name="Google Shape;286;p21"/>
          <p:cNvGrpSpPr/>
          <p:nvPr/>
        </p:nvGrpSpPr>
        <p:grpSpPr>
          <a:xfrm>
            <a:off x="457200" y="1095375"/>
            <a:ext cx="8229750" cy="3333900"/>
            <a:chOff x="0" y="0"/>
            <a:chExt cx="8229750" cy="3333900"/>
          </a:xfrm>
        </p:grpSpPr>
        <p:grpSp>
          <p:nvGrpSpPr>
            <p:cNvPr id="287" name="Google Shape;287;p21"/>
            <p:cNvGrpSpPr/>
            <p:nvPr/>
          </p:nvGrpSpPr>
          <p:grpSpPr>
            <a:xfrm>
              <a:off x="0" y="0"/>
              <a:ext cx="3905400" cy="2695575"/>
              <a:chOff x="0" y="0"/>
              <a:chExt cx="3905400" cy="2695575"/>
            </a:xfrm>
          </p:grpSpPr>
          <p:sp>
            <p:nvSpPr>
              <p:cNvPr id="288" name="Google Shape;288;p21"/>
              <p:cNvSpPr txBox="1"/>
              <p:nvPr/>
            </p:nvSpPr>
            <p:spPr>
              <a:xfrm>
                <a:off x="0" y="0"/>
                <a:ext cx="3905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Frequent Negative Review Terms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Food</a:t>
                </a:r>
                <a:r>
                  <a:rPr lang="en"/>
                  <a:t> </a:t>
                </a:r>
                <a:r>
                  <a:rPr b="1" lang="en" sz="975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Experience</a:t>
                </a:r>
                <a:r>
                  <a:rPr lang="en"/>
                  <a:t> </a:t>
                </a:r>
                <a:r>
                  <a:rPr b="1" lang="en" sz="975">
                    <a:solidFill>
                      <a:srgbClr val="000000"/>
                    </a:solidFill>
                    <a:highlight>
                      <a:srgbClr val="F8F9FA"/>
                    </a:highlight>
                    <a:latin typeface="Space Grotesk"/>
                    <a:ea typeface="Space Grotesk"/>
                    <a:cs typeface="Space Grotesk"/>
                    <a:sym typeface="Space Grotesk"/>
                  </a:rPr>
                  <a:t>Much</a:t>
                </a:r>
                <a:r>
                  <a:rPr lang="en"/>
                  <a:t> </a:t>
                </a:r>
                <a:r>
                  <a:rPr b="1" lang="en" sz="975">
                    <a:solidFill>
                      <a:srgbClr val="000000"/>
                    </a:solidFill>
                    <a:highlight>
                      <a:srgbClr val="F8F9FA"/>
                    </a:highlight>
                    <a:latin typeface="Space Grotesk"/>
                    <a:ea typeface="Space Grotesk"/>
                    <a:cs typeface="Space Grotesk"/>
                    <a:sym typeface="Space Grotesk"/>
                  </a:rPr>
                  <a:t>Much better</a:t>
                </a:r>
                <a:r>
                  <a:rPr lang="en"/>
                  <a:t> </a:t>
                </a:r>
                <a:r>
                  <a:rPr b="1" lang="en" sz="975">
                    <a:solidFill>
                      <a:srgbClr val="000000"/>
                    </a:solidFill>
                    <a:highlight>
                      <a:srgbClr val="F8F9FA"/>
                    </a:highlight>
                    <a:latin typeface="Space Grotesk"/>
                    <a:ea typeface="Space Grotesk"/>
                    <a:cs typeface="Space Grotesk"/>
                    <a:sym typeface="Space Grotesk"/>
                  </a:rPr>
                  <a:t>Could</a:t>
                </a:r>
                <a:endParaRPr/>
              </a:p>
            </p:txBody>
          </p:sp>
          <p:grpSp>
            <p:nvGrpSpPr>
              <p:cNvPr id="289" name="Google Shape;289;p21"/>
              <p:cNvGrpSpPr/>
              <p:nvPr/>
            </p:nvGrpSpPr>
            <p:grpSpPr>
              <a:xfrm>
                <a:off x="0" y="809625"/>
                <a:ext cx="3905400" cy="1885950"/>
                <a:chOff x="0" y="0"/>
                <a:chExt cx="3905400" cy="1885950"/>
              </a:xfrm>
            </p:grpSpPr>
            <p:sp>
              <p:nvSpPr>
                <p:cNvPr id="290" name="Google Shape;290;p21"/>
                <p:cNvSpPr txBox="1"/>
                <p:nvPr/>
              </p:nvSpPr>
              <p:spPr>
                <a:xfrm>
                  <a:off x="0" y="0"/>
                  <a:ext cx="39054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00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Preliminary Actionable Applications</a:t>
                  </a:r>
                  <a:endParaRPr b="0" sz="1200">
                    <a:solidFill>
                      <a:srgbClr val="333333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  <p:grpSp>
              <p:nvGrpSpPr>
                <p:cNvPr id="291" name="Google Shape;291;p21"/>
                <p:cNvGrpSpPr/>
                <p:nvPr/>
              </p:nvGrpSpPr>
              <p:grpSpPr>
                <a:xfrm>
                  <a:off x="19050" y="304800"/>
                  <a:ext cx="3886350" cy="1581150"/>
                  <a:chOff x="19050" y="0"/>
                  <a:chExt cx="3886350" cy="1581150"/>
                </a:xfrm>
              </p:grpSpPr>
              <p:grpSp>
                <p:nvGrpSpPr>
                  <p:cNvPr id="292" name="Google Shape;292;p21"/>
                  <p:cNvGrpSpPr/>
                  <p:nvPr/>
                </p:nvGrpSpPr>
                <p:grpSpPr>
                  <a:xfrm>
                    <a:off x="19050" y="0"/>
                    <a:ext cx="3886350" cy="381000"/>
                    <a:chOff x="19050" y="0"/>
                    <a:chExt cx="3886350" cy="381000"/>
                  </a:xfrm>
                </p:grpSpPr>
                <p:grpSp>
                  <p:nvGrpSpPr>
                    <p:cNvPr id="293" name="Google Shape;293;p21"/>
                    <p:cNvGrpSpPr/>
                    <p:nvPr/>
                  </p:nvGrpSpPr>
                  <p:grpSpPr>
                    <a:xfrm>
                      <a:off x="19050" y="19050"/>
                      <a:ext cx="190500" cy="190500"/>
                      <a:chOff x="19050" y="19050"/>
                      <a:chExt cx="190500" cy="190500"/>
                    </a:xfrm>
                  </p:grpSpPr>
                  <p:sp>
                    <p:nvSpPr>
                      <p:cNvPr id="294" name="Google Shape;294;p21"/>
                      <p:cNvSpPr/>
                      <p:nvPr/>
                    </p:nvSpPr>
                    <p:spPr>
                      <a:xfrm>
                        <a:off x="19050" y="19050"/>
                        <a:ext cx="190500" cy="190500"/>
                      </a:xfrm>
                      <a:prstGeom prst="ellipse">
                        <a:avLst/>
                      </a:prstGeom>
                      <a:solidFill>
                        <a:srgbClr val="000000">
                          <a:alpha val="0"/>
                        </a:srgbClr>
                      </a:solidFill>
                      <a:ln cap="flat" cmpd="sng" w="19050">
                        <a:solidFill>
                          <a:srgbClr val="06C167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95" name="Google Shape;295;p21"/>
                      <p:cNvSpPr/>
                      <p:nvPr/>
                    </p:nvSpPr>
                    <p:spPr>
                      <a:xfrm>
                        <a:off x="76200" y="76200"/>
                        <a:ext cx="76200" cy="76200"/>
                      </a:xfrm>
                      <a:prstGeom prst="ellipse">
                        <a:avLst/>
                      </a:prstGeom>
                      <a:solidFill>
                        <a:srgbClr val="06C167"/>
                      </a:solidFill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  <p:sp>
                  <p:nvSpPr>
                    <p:cNvPr id="296" name="Google Shape;296;p21"/>
                    <p:cNvSpPr txBox="1"/>
                    <p:nvPr/>
                  </p:nvSpPr>
                  <p:spPr>
                    <a:xfrm>
                      <a:off x="304800" y="0"/>
                      <a:ext cx="3600600" cy="38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050">
                          <a:solidFill>
                            <a:srgbClr val="333333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Review complaints for specific service issues</a:t>
                      </a:r>
                      <a:endParaRPr b="0" sz="1050">
                        <a:solidFill>
                          <a:srgbClr val="333333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p:txBody>
                </p:sp>
              </p:grpSp>
              <p:grpSp>
                <p:nvGrpSpPr>
                  <p:cNvPr id="297" name="Google Shape;297;p21"/>
                  <p:cNvGrpSpPr/>
                  <p:nvPr/>
                </p:nvGrpSpPr>
                <p:grpSpPr>
                  <a:xfrm>
                    <a:off x="19050" y="400050"/>
                    <a:ext cx="3886350" cy="381000"/>
                    <a:chOff x="19050" y="0"/>
                    <a:chExt cx="3886350" cy="381000"/>
                  </a:xfrm>
                </p:grpSpPr>
                <p:grpSp>
                  <p:nvGrpSpPr>
                    <p:cNvPr id="298" name="Google Shape;298;p21"/>
                    <p:cNvGrpSpPr/>
                    <p:nvPr/>
                  </p:nvGrpSpPr>
                  <p:grpSpPr>
                    <a:xfrm>
                      <a:off x="19050" y="19050"/>
                      <a:ext cx="190500" cy="190500"/>
                      <a:chOff x="19050" y="19050"/>
                      <a:chExt cx="190500" cy="190500"/>
                    </a:xfrm>
                  </p:grpSpPr>
                  <p:sp>
                    <p:nvSpPr>
                      <p:cNvPr id="299" name="Google Shape;299;p21"/>
                      <p:cNvSpPr/>
                      <p:nvPr/>
                    </p:nvSpPr>
                    <p:spPr>
                      <a:xfrm>
                        <a:off x="19050" y="19050"/>
                        <a:ext cx="190500" cy="190500"/>
                      </a:xfrm>
                      <a:prstGeom prst="ellipse">
                        <a:avLst/>
                      </a:prstGeom>
                      <a:solidFill>
                        <a:srgbClr val="000000">
                          <a:alpha val="0"/>
                        </a:srgbClr>
                      </a:solidFill>
                      <a:ln cap="flat" cmpd="sng" w="19050">
                        <a:solidFill>
                          <a:srgbClr val="06C167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0" name="Google Shape;300;p21"/>
                      <p:cNvSpPr/>
                      <p:nvPr/>
                    </p:nvSpPr>
                    <p:spPr>
                      <a:xfrm>
                        <a:off x="76200" y="76200"/>
                        <a:ext cx="76200" cy="76200"/>
                      </a:xfrm>
                      <a:prstGeom prst="ellipse">
                        <a:avLst/>
                      </a:prstGeom>
                      <a:solidFill>
                        <a:srgbClr val="06C167"/>
                      </a:solidFill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  <p:sp>
                  <p:nvSpPr>
                    <p:cNvPr id="301" name="Google Shape;301;p21"/>
                    <p:cNvSpPr txBox="1"/>
                    <p:nvPr/>
                  </p:nvSpPr>
                  <p:spPr>
                    <a:xfrm>
                      <a:off x="304800" y="0"/>
                      <a:ext cx="3600600" cy="38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050">
                          <a:solidFill>
                            <a:srgbClr val="333333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Investigate food quality</a:t>
                      </a:r>
                      <a:endParaRPr b="0" sz="1050">
                        <a:solidFill>
                          <a:srgbClr val="333333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p:txBody>
                </p:sp>
              </p:grpSp>
              <p:grpSp>
                <p:nvGrpSpPr>
                  <p:cNvPr id="302" name="Google Shape;302;p21"/>
                  <p:cNvGrpSpPr/>
                  <p:nvPr/>
                </p:nvGrpSpPr>
                <p:grpSpPr>
                  <a:xfrm>
                    <a:off x="19050" y="800100"/>
                    <a:ext cx="3886350" cy="381000"/>
                    <a:chOff x="19050" y="0"/>
                    <a:chExt cx="3886350" cy="381000"/>
                  </a:xfrm>
                </p:grpSpPr>
                <p:grpSp>
                  <p:nvGrpSpPr>
                    <p:cNvPr id="303" name="Google Shape;303;p21"/>
                    <p:cNvGrpSpPr/>
                    <p:nvPr/>
                  </p:nvGrpSpPr>
                  <p:grpSpPr>
                    <a:xfrm>
                      <a:off x="19050" y="19050"/>
                      <a:ext cx="190500" cy="190500"/>
                      <a:chOff x="19050" y="19050"/>
                      <a:chExt cx="190500" cy="190500"/>
                    </a:xfrm>
                  </p:grpSpPr>
                  <p:sp>
                    <p:nvSpPr>
                      <p:cNvPr id="304" name="Google Shape;304;p21"/>
                      <p:cNvSpPr/>
                      <p:nvPr/>
                    </p:nvSpPr>
                    <p:spPr>
                      <a:xfrm>
                        <a:off x="19050" y="19050"/>
                        <a:ext cx="190500" cy="190500"/>
                      </a:xfrm>
                      <a:prstGeom prst="ellipse">
                        <a:avLst/>
                      </a:prstGeom>
                      <a:solidFill>
                        <a:srgbClr val="000000">
                          <a:alpha val="0"/>
                        </a:srgbClr>
                      </a:solidFill>
                      <a:ln cap="flat" cmpd="sng" w="19050">
                        <a:solidFill>
                          <a:srgbClr val="06C167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5" name="Google Shape;305;p21"/>
                      <p:cNvSpPr/>
                      <p:nvPr/>
                    </p:nvSpPr>
                    <p:spPr>
                      <a:xfrm>
                        <a:off x="76200" y="76200"/>
                        <a:ext cx="76200" cy="76200"/>
                      </a:xfrm>
                      <a:prstGeom prst="ellipse">
                        <a:avLst/>
                      </a:prstGeom>
                      <a:solidFill>
                        <a:srgbClr val="06C167"/>
                      </a:solidFill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  <p:sp>
                  <p:nvSpPr>
                    <p:cNvPr id="306" name="Google Shape;306;p21"/>
                    <p:cNvSpPr txBox="1"/>
                    <p:nvPr/>
                  </p:nvSpPr>
                  <p:spPr>
                    <a:xfrm>
                      <a:off x="304800" y="0"/>
                      <a:ext cx="3600600" cy="38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050">
                          <a:solidFill>
                            <a:srgbClr val="333333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Share feedback with partners</a:t>
                      </a:r>
                      <a:endParaRPr b="0" sz="1050">
                        <a:solidFill>
                          <a:srgbClr val="333333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p:txBody>
                </p:sp>
              </p:grpSp>
              <p:grpSp>
                <p:nvGrpSpPr>
                  <p:cNvPr id="307" name="Google Shape;307;p21"/>
                  <p:cNvGrpSpPr/>
                  <p:nvPr/>
                </p:nvGrpSpPr>
                <p:grpSpPr>
                  <a:xfrm>
                    <a:off x="19050" y="1200150"/>
                    <a:ext cx="3886350" cy="381000"/>
                    <a:chOff x="19050" y="0"/>
                    <a:chExt cx="3886350" cy="381000"/>
                  </a:xfrm>
                </p:grpSpPr>
                <p:grpSp>
                  <p:nvGrpSpPr>
                    <p:cNvPr id="308" name="Google Shape;308;p21"/>
                    <p:cNvGrpSpPr/>
                    <p:nvPr/>
                  </p:nvGrpSpPr>
                  <p:grpSpPr>
                    <a:xfrm>
                      <a:off x="19050" y="19050"/>
                      <a:ext cx="190500" cy="190500"/>
                      <a:chOff x="19050" y="19050"/>
                      <a:chExt cx="190500" cy="190500"/>
                    </a:xfrm>
                  </p:grpSpPr>
                  <p:sp>
                    <p:nvSpPr>
                      <p:cNvPr id="309" name="Google Shape;309;p21"/>
                      <p:cNvSpPr/>
                      <p:nvPr/>
                    </p:nvSpPr>
                    <p:spPr>
                      <a:xfrm>
                        <a:off x="19050" y="19050"/>
                        <a:ext cx="190500" cy="190500"/>
                      </a:xfrm>
                      <a:prstGeom prst="ellipse">
                        <a:avLst/>
                      </a:prstGeom>
                      <a:solidFill>
                        <a:srgbClr val="000000">
                          <a:alpha val="0"/>
                        </a:srgbClr>
                      </a:solidFill>
                      <a:ln cap="flat" cmpd="sng" w="19050">
                        <a:solidFill>
                          <a:srgbClr val="06C167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0" name="Google Shape;310;p21"/>
                      <p:cNvSpPr/>
                      <p:nvPr/>
                    </p:nvSpPr>
                    <p:spPr>
                      <a:xfrm>
                        <a:off x="76200" y="76200"/>
                        <a:ext cx="76200" cy="76200"/>
                      </a:xfrm>
                      <a:prstGeom prst="ellipse">
                        <a:avLst/>
                      </a:prstGeom>
                      <a:solidFill>
                        <a:srgbClr val="06C167"/>
                      </a:solidFill>
                      <a:ln>
                        <a:noFill/>
                      </a:ln>
                    </p:spPr>
                    <p:txBody>
                      <a:bodyPr anchorCtr="0" anchor="ctr" bIns="0" lIns="0" spcFirstLastPara="1" rIns="0" wrap="square" tIns="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  <p:sp>
                  <p:nvSpPr>
                    <p:cNvPr id="311" name="Google Shape;311;p21"/>
                    <p:cNvSpPr txBox="1"/>
                    <p:nvPr/>
                  </p:nvSpPr>
                  <p:spPr>
                    <a:xfrm>
                      <a:off x="304800" y="0"/>
                      <a:ext cx="3600600" cy="38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050">
                          <a:solidFill>
                            <a:srgbClr val="333333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Monitor negative trends</a:t>
                      </a:r>
                      <a:endParaRPr b="0" sz="1050">
                        <a:solidFill>
                          <a:srgbClr val="333333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p:txBody>
                </p:sp>
              </p:grpSp>
            </p:grpSp>
          </p:grpSp>
        </p:grpSp>
        <p:grpSp>
          <p:nvGrpSpPr>
            <p:cNvPr id="312" name="Google Shape;312;p21"/>
            <p:cNvGrpSpPr/>
            <p:nvPr/>
          </p:nvGrpSpPr>
          <p:grpSpPr>
            <a:xfrm>
              <a:off x="4324350" y="0"/>
              <a:ext cx="3905400" cy="3333900"/>
              <a:chOff x="0" y="0"/>
              <a:chExt cx="3905400" cy="3333900"/>
            </a:xfrm>
          </p:grpSpPr>
          <p:sp>
            <p:nvSpPr>
              <p:cNvPr id="313" name="Google Shape;313;p21"/>
              <p:cNvSpPr/>
              <p:nvPr/>
            </p:nvSpPr>
            <p:spPr>
              <a:xfrm>
                <a:off x="0" y="0"/>
                <a:ext cx="3905400" cy="3333900"/>
              </a:xfrm>
              <a:prstGeom prst="roundRect">
                <a:avLst>
                  <a:gd fmla="val 1142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4" name="Google Shape;314;p21"/>
              <p:cNvGrpSpPr/>
              <p:nvPr/>
            </p:nvGrpSpPr>
            <p:grpSpPr>
              <a:xfrm>
                <a:off x="228600" y="228600"/>
                <a:ext cx="3448200" cy="2857500"/>
                <a:chOff x="0" y="0"/>
                <a:chExt cx="3448200" cy="2857500"/>
              </a:xfrm>
            </p:grpSpPr>
            <p:sp>
              <p:nvSpPr>
                <p:cNvPr id="315" name="Google Shape;315;p21"/>
                <p:cNvSpPr txBox="1"/>
                <p:nvPr/>
              </p:nvSpPr>
              <p:spPr>
                <a:xfrm>
                  <a:off x="0" y="0"/>
                  <a:ext cx="34482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b="0" lang="en" sz="825">
                      <a:solidFill>
                        <a:srgbClr val="00000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Analysis Limitations</a:t>
                  </a:r>
                  <a:endParaRPr b="0" sz="825">
                    <a:solidFill>
                      <a:srgbClr val="00000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  <p:grpSp>
              <p:nvGrpSpPr>
                <p:cNvPr id="316" name="Google Shape;316;p21"/>
                <p:cNvGrpSpPr/>
                <p:nvPr/>
              </p:nvGrpSpPr>
              <p:grpSpPr>
                <a:xfrm>
                  <a:off x="0" y="266700"/>
                  <a:ext cx="3448200" cy="685800"/>
                  <a:chOff x="0" y="0"/>
                  <a:chExt cx="3448200" cy="685800"/>
                </a:xfrm>
              </p:grpSpPr>
              <p:sp>
                <p:nvSpPr>
                  <p:cNvPr id="317" name="Google Shape;317;p21"/>
                  <p:cNvSpPr/>
                  <p:nvPr/>
                </p:nvSpPr>
                <p:spPr>
                  <a:xfrm>
                    <a:off x="0" y="0"/>
                    <a:ext cx="3448200" cy="685800"/>
                  </a:xfrm>
                  <a:prstGeom prst="roundRect">
                    <a:avLst>
                      <a:gd fmla="val 5555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21"/>
                  <p:cNvSpPr txBox="1"/>
                  <p:nvPr/>
                </p:nvSpPr>
                <p:spPr>
                  <a:xfrm>
                    <a:off x="152400" y="114300"/>
                    <a:ext cx="3143400" cy="476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800">
                        <a:solidFill>
                          <a:srgbClr val="06C167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rPr>
                      <a:t>15 Unique Templates</a:t>
                    </a:r>
                    <a:endParaRPr b="1" sz="1800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endParaRPr>
                  </a:p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900">
                        <a:solidFill>
                          <a:srgbClr val="77777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Dataset relied on a limited set of review structures</a:t>
                    </a:r>
                    <a:endParaRPr b="0" sz="900">
                      <a:solidFill>
                        <a:srgbClr val="77777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sp>
              <p:nvSpPr>
                <p:cNvPr id="319" name="Google Shape;319;p21"/>
                <p:cNvSpPr txBox="1"/>
                <p:nvPr/>
              </p:nvSpPr>
              <p:spPr>
                <a:xfrm>
                  <a:off x="0" y="1123950"/>
                  <a:ext cx="34482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33333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No Root Cause Proof</a:t>
                  </a:r>
                  <a:endParaRPr b="1" sz="10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75">
                      <a:solidFill>
                        <a:srgbClr val="55555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Frequent words highlight recurring themes but do not definitively prove the underlying root causes of customer dissatisfaction.</a:t>
                  </a:r>
                  <a:endParaRPr b="0" sz="975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320" name="Google Shape;320;p21"/>
                <p:cNvCxnSpPr/>
                <p:nvPr/>
              </p:nvCxnSpPr>
              <p:spPr>
                <a:xfrm>
                  <a:off x="0" y="1962150"/>
                  <a:ext cx="34482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AEAE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21" name="Google Shape;321;p21"/>
                <p:cNvSpPr txBox="1"/>
                <p:nvPr/>
              </p:nvSpPr>
              <p:spPr>
                <a:xfrm>
                  <a:off x="0" y="2095500"/>
                  <a:ext cx="34482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33333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Rating-Derived Sentiment</a:t>
                  </a:r>
                  <a:endParaRPr b="1" sz="10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75">
                      <a:solidFill>
                        <a:srgbClr val="55555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Sentiment labels were derived directly from numerical ratings rather than standalone qualitative text processing.</a:t>
                  </a:r>
                  <a:endParaRPr b="0" sz="975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2"/>
          <p:cNvGrpSpPr/>
          <p:nvPr/>
        </p:nvGrpSpPr>
        <p:grpSpPr>
          <a:xfrm>
            <a:off x="0" y="0"/>
            <a:ext cx="9563100" cy="5143500"/>
            <a:chOff x="0" y="0"/>
            <a:chExt cx="9563100" cy="5143500"/>
          </a:xfrm>
        </p:grpSpPr>
        <p:sp>
          <p:nvSpPr>
            <p:cNvPr id="327" name="Google Shape;327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 txBox="1"/>
            <p:nvPr/>
          </p:nvSpPr>
          <p:spPr>
            <a:xfrm>
              <a:off x="457200" y="3810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Predicting Delivery Time Using Regression</a:t>
              </a:r>
              <a:endParaRPr b="1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29" name="Google Shape;329;p22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0" name="Google Shape;330;p22"/>
            <p:cNvGrpSpPr/>
            <p:nvPr/>
          </p:nvGrpSpPr>
          <p:grpSpPr>
            <a:xfrm>
              <a:off x="7429500" y="4686300"/>
              <a:ext cx="2133600" cy="190500"/>
              <a:chOff x="0" y="0"/>
              <a:chExt cx="2133600" cy="190500"/>
            </a:xfrm>
          </p:grpSpPr>
          <p:sp>
            <p:nvSpPr>
              <p:cNvPr id="331" name="Google Shape;331;p22"/>
              <p:cNvSpPr/>
              <p:nvPr/>
            </p:nvSpPr>
            <p:spPr>
              <a:xfrm>
                <a:off x="0" y="0"/>
                <a:ext cx="1524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2"/>
              <p:cNvSpPr txBox="1"/>
              <p:nvPr/>
            </p:nvSpPr>
            <p:spPr>
              <a:xfrm>
                <a:off x="228600" y="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ANALYTICS &amp; ML</a:t>
                </a:r>
                <a:endParaRPr b="1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3" name="Google Shape;333;p22"/>
          <p:cNvGrpSpPr/>
          <p:nvPr/>
        </p:nvGrpSpPr>
        <p:grpSpPr>
          <a:xfrm>
            <a:off x="457200" y="1095375"/>
            <a:ext cx="8229600" cy="3381225"/>
            <a:chOff x="0" y="0"/>
            <a:chExt cx="8229600" cy="3381225"/>
          </a:xfrm>
        </p:grpSpPr>
        <p:grpSp>
          <p:nvGrpSpPr>
            <p:cNvPr id="334" name="Google Shape;334;p22"/>
            <p:cNvGrpSpPr/>
            <p:nvPr/>
          </p:nvGrpSpPr>
          <p:grpSpPr>
            <a:xfrm>
              <a:off x="0" y="0"/>
              <a:ext cx="3905400" cy="3381225"/>
              <a:chOff x="0" y="0"/>
              <a:chExt cx="3905400" cy="3381225"/>
            </a:xfrm>
          </p:grpSpPr>
          <p:sp>
            <p:nvSpPr>
              <p:cNvPr id="335" name="Google Shape;335;p22"/>
              <p:cNvSpPr txBox="1"/>
              <p:nvPr/>
            </p:nvSpPr>
            <p:spPr>
              <a:xfrm>
                <a:off x="0" y="0"/>
                <a:ext cx="39054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63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MODEL INPUT FEATURES</a:t>
                </a:r>
                <a:endParaRPr b="0" sz="763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7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To estimate delivery duration, regression models were trained using key contextual features:</a:t>
                </a:r>
                <a:endParaRPr b="0" sz="971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6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b="0" lang="en" sz="97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Delivery distance</a:t>
                </a:r>
                <a:endParaRPr b="0" sz="971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3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b="0" lang="en" sz="97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Traffic conditions</a:t>
                </a:r>
                <a:endParaRPr b="0" sz="971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300"/>
                  </a:spcBef>
                  <a:spcAft>
                    <a:spcPts val="0"/>
                  </a:spcAft>
                  <a:buSzPts val="1295"/>
                  <a:buChar char="●"/>
                </a:pPr>
                <a:r>
                  <a:rPr b="0" lang="en" sz="97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Weather</a:t>
                </a:r>
                <a:endParaRPr b="0" sz="971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300"/>
                  </a:spcBef>
                  <a:spcAft>
                    <a:spcPts val="300"/>
                  </a:spcAft>
                  <a:buSzPts val="1295"/>
                  <a:buChar char="●"/>
                </a:pPr>
                <a:r>
                  <a:rPr b="0" lang="en" sz="97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 category &amp; ratings</a:t>
                </a:r>
                <a:endParaRPr b="0" sz="971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36" name="Google Shape;336;p22"/>
              <p:cNvCxnSpPr/>
              <p:nvPr/>
            </p:nvCxnSpPr>
            <p:spPr>
              <a:xfrm>
                <a:off x="0" y="1619250"/>
                <a:ext cx="3905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7" name="Google Shape;337;p22"/>
              <p:cNvSpPr txBox="1"/>
              <p:nvPr/>
            </p:nvSpPr>
            <p:spPr>
              <a:xfrm>
                <a:off x="0" y="1762125"/>
                <a:ext cx="3905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1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EVALUATED ALGORITHMS</a:t>
                </a:r>
                <a:endParaRPr b="0" sz="701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The evaluation compared multiple modeling techniques against a baseline: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Linear Regression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3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Ridge Regression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3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Lasso Regression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3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Random Forest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300"/>
                  </a:spcBef>
                  <a:spcAft>
                    <a:spcPts val="300"/>
                  </a:spcAft>
                  <a:buSzPts val="1190"/>
                  <a:buChar char="●"/>
                </a:pPr>
                <a:r>
                  <a:rPr b="0" lang="en" sz="893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Dummy Regression Baseline</a:t>
                </a:r>
                <a:endParaRPr b="0" sz="893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8" name="Google Shape;338;p22"/>
            <p:cNvGrpSpPr/>
            <p:nvPr/>
          </p:nvGrpSpPr>
          <p:grpSpPr>
            <a:xfrm>
              <a:off x="4229100" y="0"/>
              <a:ext cx="4000500" cy="3314700"/>
              <a:chOff x="0" y="0"/>
              <a:chExt cx="4000500" cy="3314700"/>
            </a:xfrm>
          </p:grpSpPr>
          <p:grpSp>
            <p:nvGrpSpPr>
              <p:cNvPr id="339" name="Google Shape;339;p22"/>
              <p:cNvGrpSpPr/>
              <p:nvPr/>
            </p:nvGrpSpPr>
            <p:grpSpPr>
              <a:xfrm>
                <a:off x="0" y="0"/>
                <a:ext cx="4000500" cy="1028700"/>
                <a:chOff x="0" y="0"/>
                <a:chExt cx="4000500" cy="1028700"/>
              </a:xfrm>
            </p:grpSpPr>
            <p:sp>
              <p:nvSpPr>
                <p:cNvPr id="340" name="Google Shape;340;p22"/>
                <p:cNvSpPr/>
                <p:nvPr/>
              </p:nvSpPr>
              <p:spPr>
                <a:xfrm>
                  <a:off x="0" y="0"/>
                  <a:ext cx="4000500" cy="1028700"/>
                </a:xfrm>
                <a:prstGeom prst="roundRect">
                  <a:avLst>
                    <a:gd fmla="val 3703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22"/>
                <p:cNvSpPr/>
                <p:nvPr/>
              </p:nvSpPr>
              <p:spPr>
                <a:xfrm>
                  <a:off x="0" y="0"/>
                  <a:ext cx="38100" cy="1028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6C16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2"/>
                <p:cNvSpPr txBox="1"/>
                <p:nvPr/>
              </p:nvSpPr>
              <p:spPr>
                <a:xfrm>
                  <a:off x="228600" y="152400"/>
                  <a:ext cx="35433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63">
                      <a:solidFill>
                        <a:srgbClr val="77777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EVALUATION METRIC 01</a:t>
                  </a:r>
                  <a:endParaRPr b="0" sz="763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1526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MAE </a:t>
                  </a:r>
                  <a:r>
                    <a:rPr b="0" lang="en" sz="971">
                      <a:solidFill>
                        <a:srgbClr val="777777"/>
                      </a:solidFill>
                      <a:latin typeface="Space Grotesk Medium"/>
                      <a:ea typeface="Space Grotesk Medium"/>
                      <a:cs typeface="Space Grotesk Medium"/>
                      <a:sym typeface="Space Grotesk Medium"/>
                    </a:rPr>
                    <a:t>(Mean Absolute Error)</a:t>
                  </a:r>
                  <a:endParaRPr b="1" sz="1526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2">
                      <a:solidFill>
                        <a:srgbClr val="33333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Measures average absolute prediction error across all delivery time estimations.</a:t>
                  </a:r>
                  <a:endParaRPr b="0" sz="902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43" name="Google Shape;343;p22"/>
              <p:cNvGrpSpPr/>
              <p:nvPr/>
            </p:nvGrpSpPr>
            <p:grpSpPr>
              <a:xfrm>
                <a:off x="0" y="1143000"/>
                <a:ext cx="4000500" cy="1028700"/>
                <a:chOff x="0" y="0"/>
                <a:chExt cx="4000500" cy="1028700"/>
              </a:xfrm>
            </p:grpSpPr>
            <p:sp>
              <p:nvSpPr>
                <p:cNvPr id="344" name="Google Shape;344;p22"/>
                <p:cNvSpPr/>
                <p:nvPr/>
              </p:nvSpPr>
              <p:spPr>
                <a:xfrm>
                  <a:off x="0" y="0"/>
                  <a:ext cx="4000500" cy="1028700"/>
                </a:xfrm>
                <a:prstGeom prst="roundRect">
                  <a:avLst>
                    <a:gd fmla="val 3703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2"/>
                <p:cNvSpPr/>
                <p:nvPr/>
              </p:nvSpPr>
              <p:spPr>
                <a:xfrm>
                  <a:off x="0" y="0"/>
                  <a:ext cx="38100" cy="1028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6C16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2"/>
                <p:cNvSpPr txBox="1"/>
                <p:nvPr/>
              </p:nvSpPr>
              <p:spPr>
                <a:xfrm>
                  <a:off x="228600" y="152400"/>
                  <a:ext cx="35433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63">
                      <a:solidFill>
                        <a:srgbClr val="77777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EVALUATION METRIC 02</a:t>
                  </a:r>
                  <a:endParaRPr b="0" sz="763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1526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RMSE </a:t>
                  </a:r>
                  <a:r>
                    <a:rPr b="0" lang="en" sz="971">
                      <a:solidFill>
                        <a:srgbClr val="777777"/>
                      </a:solidFill>
                      <a:latin typeface="Space Grotesk Medium"/>
                      <a:ea typeface="Space Grotesk Medium"/>
                      <a:cs typeface="Space Grotesk Medium"/>
                      <a:sym typeface="Space Grotesk Medium"/>
                    </a:rPr>
                    <a:t>(Root Mean Squared Error)</a:t>
                  </a:r>
                  <a:endParaRPr b="1" sz="1526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2">
                      <a:solidFill>
                        <a:srgbClr val="33333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Penalizes larger prediction errors more heavily to ensure model stability.</a:t>
                  </a:r>
                  <a:endParaRPr b="0" sz="902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47" name="Google Shape;347;p22"/>
              <p:cNvGrpSpPr/>
              <p:nvPr/>
            </p:nvGrpSpPr>
            <p:grpSpPr>
              <a:xfrm>
                <a:off x="0" y="2286000"/>
                <a:ext cx="4000500" cy="1028700"/>
                <a:chOff x="0" y="0"/>
                <a:chExt cx="4000500" cy="1028700"/>
              </a:xfrm>
            </p:grpSpPr>
            <p:sp>
              <p:nvSpPr>
                <p:cNvPr id="348" name="Google Shape;348;p22"/>
                <p:cNvSpPr/>
                <p:nvPr/>
              </p:nvSpPr>
              <p:spPr>
                <a:xfrm>
                  <a:off x="0" y="0"/>
                  <a:ext cx="4000500" cy="1028700"/>
                </a:xfrm>
                <a:prstGeom prst="roundRect">
                  <a:avLst>
                    <a:gd fmla="val 3703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2"/>
                <p:cNvSpPr/>
                <p:nvPr/>
              </p:nvSpPr>
              <p:spPr>
                <a:xfrm>
                  <a:off x="0" y="0"/>
                  <a:ext cx="38100" cy="1028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6C16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22"/>
                <p:cNvSpPr txBox="1"/>
                <p:nvPr/>
              </p:nvSpPr>
              <p:spPr>
                <a:xfrm>
                  <a:off x="228600" y="152400"/>
                  <a:ext cx="35433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63">
                      <a:solidFill>
                        <a:srgbClr val="77777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EVALUATION METRIC 03</a:t>
                  </a:r>
                  <a:endParaRPr b="0" sz="763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1526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R² </a:t>
                  </a:r>
                  <a:r>
                    <a:rPr b="0" lang="en" sz="971">
                      <a:solidFill>
                        <a:srgbClr val="777777"/>
                      </a:solidFill>
                      <a:latin typeface="Space Grotesk Medium"/>
                      <a:ea typeface="Space Grotesk Medium"/>
                      <a:cs typeface="Space Grotesk Medium"/>
                      <a:sym typeface="Space Grotesk Medium"/>
                    </a:rPr>
                    <a:t>(Coefficient of Determination)</a:t>
                  </a:r>
                  <a:endParaRPr b="1" sz="1526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2">
                      <a:solidFill>
                        <a:srgbClr val="33333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Determines the proportion of target variation explained by the input features.</a:t>
                  </a:r>
                  <a:endParaRPr b="0" sz="902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Evaluation Results &amp; Feature Importance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6" name="Google Shape;356;p23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7" name="Google Shape;357;p23"/>
          <p:cNvGrpSpPr/>
          <p:nvPr/>
        </p:nvGrpSpPr>
        <p:grpSpPr>
          <a:xfrm>
            <a:off x="457200" y="1095375"/>
            <a:ext cx="4286400" cy="3286275"/>
            <a:chOff x="0" y="0"/>
            <a:chExt cx="4286400" cy="3286275"/>
          </a:xfrm>
        </p:grpSpPr>
        <p:sp>
          <p:nvSpPr>
            <p:cNvPr id="358" name="Google Shape;358;p23"/>
            <p:cNvSpPr txBox="1"/>
            <p:nvPr/>
          </p:nvSpPr>
          <p:spPr>
            <a:xfrm>
              <a:off x="0" y="0"/>
              <a:ext cx="4286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PERFORMANCE COMPARISON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59" name="Google Shape;359;p23"/>
            <p:cNvGrpSpPr/>
            <p:nvPr/>
          </p:nvGrpSpPr>
          <p:grpSpPr>
            <a:xfrm>
              <a:off x="0" y="228600"/>
              <a:ext cx="4286400" cy="1828800"/>
              <a:chOff x="0" y="0"/>
              <a:chExt cx="4286400" cy="1828800"/>
            </a:xfrm>
          </p:grpSpPr>
          <p:sp>
            <p:nvSpPr>
              <p:cNvPr id="360" name="Google Shape;360;p23"/>
              <p:cNvSpPr/>
              <p:nvPr/>
            </p:nvSpPr>
            <p:spPr>
              <a:xfrm>
                <a:off x="0" y="0"/>
                <a:ext cx="4286400" cy="266700"/>
              </a:xfrm>
              <a:prstGeom prst="roundRect">
                <a:avLst>
                  <a:gd fmla="val 7142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3"/>
              <p:cNvSpPr txBox="1"/>
              <p:nvPr/>
            </p:nvSpPr>
            <p:spPr>
              <a:xfrm>
                <a:off x="114300" y="571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MODEL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2" name="Google Shape;362;p23"/>
              <p:cNvSpPr txBox="1"/>
              <p:nvPr/>
            </p:nvSpPr>
            <p:spPr>
              <a:xfrm>
                <a:off x="1714500" y="571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RMSE (MIN)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3" name="Google Shape;363;p23"/>
              <p:cNvSpPr txBox="1"/>
              <p:nvPr/>
            </p:nvSpPr>
            <p:spPr>
              <a:xfrm>
                <a:off x="2667000" y="571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MAE (MIN)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4" name="Google Shape;364;p23"/>
              <p:cNvSpPr txBox="1"/>
              <p:nvPr/>
            </p:nvSpPr>
            <p:spPr>
              <a:xfrm>
                <a:off x="3524250" y="571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R²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5" name="Google Shape;365;p23"/>
              <p:cNvSpPr/>
              <p:nvPr/>
            </p:nvSpPr>
            <p:spPr>
              <a:xfrm>
                <a:off x="0" y="304800"/>
                <a:ext cx="4286400" cy="304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3"/>
              <p:cNvSpPr/>
              <p:nvPr/>
            </p:nvSpPr>
            <p:spPr>
              <a:xfrm>
                <a:off x="0" y="304800"/>
                <a:ext cx="28500" cy="304800"/>
              </a:xfrm>
              <a:prstGeom prst="rect">
                <a:avLst/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7" name="Google Shape;367;p23"/>
              <p:cNvCxnSpPr/>
              <p:nvPr/>
            </p:nvCxnSpPr>
            <p:spPr>
              <a:xfrm>
                <a:off x="0" y="609600"/>
                <a:ext cx="428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68" name="Google Shape;368;p23"/>
              <p:cNvSpPr txBox="1"/>
              <p:nvPr/>
            </p:nvSpPr>
            <p:spPr>
              <a:xfrm>
                <a:off x="114300" y="3619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Inter"/>
                    <a:ea typeface="Inter"/>
                    <a:cs typeface="Inter"/>
                    <a:sym typeface="Inter"/>
                  </a:rPr>
                  <a:t>Linear Regression ★</a:t>
                </a:r>
                <a:endParaRPr b="1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23"/>
              <p:cNvSpPr txBox="1"/>
              <p:nvPr/>
            </p:nvSpPr>
            <p:spPr>
              <a:xfrm>
                <a:off x="1714500" y="3619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Inter"/>
                    <a:ea typeface="Inter"/>
                    <a:cs typeface="Inter"/>
                    <a:sym typeface="Inter"/>
                  </a:rPr>
                  <a:t>5.260</a:t>
                </a:r>
                <a:endParaRPr b="1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23"/>
              <p:cNvSpPr txBox="1"/>
              <p:nvPr/>
            </p:nvSpPr>
            <p:spPr>
              <a:xfrm>
                <a:off x="2667000" y="3619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Inter"/>
                    <a:ea typeface="Inter"/>
                    <a:cs typeface="Inter"/>
                    <a:sym typeface="Inter"/>
                  </a:rPr>
                  <a:t>4.171</a:t>
                </a:r>
                <a:endParaRPr b="1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23"/>
              <p:cNvSpPr txBox="1"/>
              <p:nvPr/>
            </p:nvSpPr>
            <p:spPr>
              <a:xfrm>
                <a:off x="3524250" y="3619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06C167"/>
                    </a:solidFill>
                    <a:latin typeface="Inter"/>
                    <a:ea typeface="Inter"/>
                    <a:cs typeface="Inter"/>
                    <a:sym typeface="Inter"/>
                  </a:rPr>
                  <a:t>0.867</a:t>
                </a:r>
                <a:endParaRPr b="1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72" name="Google Shape;372;p23"/>
              <p:cNvCxnSpPr/>
              <p:nvPr/>
            </p:nvCxnSpPr>
            <p:spPr>
              <a:xfrm>
                <a:off x="0" y="914400"/>
                <a:ext cx="428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3" name="Google Shape;373;p23"/>
              <p:cNvSpPr txBox="1"/>
              <p:nvPr/>
            </p:nvSpPr>
            <p:spPr>
              <a:xfrm>
                <a:off x="114300" y="6667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Ridge Regression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4" name="Google Shape;374;p23"/>
              <p:cNvSpPr txBox="1"/>
              <p:nvPr/>
            </p:nvSpPr>
            <p:spPr>
              <a:xfrm>
                <a:off x="1714500" y="6667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Similar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5" name="Google Shape;375;p23"/>
              <p:cNvSpPr txBox="1"/>
              <p:nvPr/>
            </p:nvSpPr>
            <p:spPr>
              <a:xfrm>
                <a:off x="2667000" y="6667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6" name="Google Shape;376;p23"/>
              <p:cNvSpPr txBox="1"/>
              <p:nvPr/>
            </p:nvSpPr>
            <p:spPr>
              <a:xfrm>
                <a:off x="3524250" y="6667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77" name="Google Shape;377;p23"/>
              <p:cNvCxnSpPr/>
              <p:nvPr/>
            </p:nvCxnSpPr>
            <p:spPr>
              <a:xfrm>
                <a:off x="0" y="1219200"/>
                <a:ext cx="428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8" name="Google Shape;378;p23"/>
              <p:cNvSpPr txBox="1"/>
              <p:nvPr/>
            </p:nvSpPr>
            <p:spPr>
              <a:xfrm>
                <a:off x="114300" y="9715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Lasso Regression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23"/>
              <p:cNvSpPr txBox="1"/>
              <p:nvPr/>
            </p:nvSpPr>
            <p:spPr>
              <a:xfrm>
                <a:off x="1714500" y="9715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Similar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23"/>
              <p:cNvSpPr txBox="1"/>
              <p:nvPr/>
            </p:nvSpPr>
            <p:spPr>
              <a:xfrm>
                <a:off x="2667000" y="9715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23"/>
              <p:cNvSpPr txBox="1"/>
              <p:nvPr/>
            </p:nvSpPr>
            <p:spPr>
              <a:xfrm>
                <a:off x="3524250" y="9715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82" name="Google Shape;382;p23"/>
              <p:cNvCxnSpPr/>
              <p:nvPr/>
            </p:nvCxnSpPr>
            <p:spPr>
              <a:xfrm>
                <a:off x="0" y="1524000"/>
                <a:ext cx="428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3" name="Google Shape;383;p23"/>
              <p:cNvSpPr txBox="1"/>
              <p:nvPr/>
            </p:nvSpPr>
            <p:spPr>
              <a:xfrm>
                <a:off x="114300" y="12763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Random Forest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23"/>
              <p:cNvSpPr txBox="1"/>
              <p:nvPr/>
            </p:nvSpPr>
            <p:spPr>
              <a:xfrm>
                <a:off x="1714500" y="12763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5.781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23"/>
              <p:cNvSpPr txBox="1"/>
              <p:nvPr/>
            </p:nvSpPr>
            <p:spPr>
              <a:xfrm>
                <a:off x="2667000" y="12763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23"/>
              <p:cNvSpPr txBox="1"/>
              <p:nvPr/>
            </p:nvSpPr>
            <p:spPr>
              <a:xfrm>
                <a:off x="3524250" y="12763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87" name="Google Shape;387;p23"/>
              <p:cNvCxnSpPr/>
              <p:nvPr/>
            </p:nvCxnSpPr>
            <p:spPr>
              <a:xfrm>
                <a:off x="0" y="1828800"/>
                <a:ext cx="428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8" name="Google Shape;388;p23"/>
              <p:cNvSpPr txBox="1"/>
              <p:nvPr/>
            </p:nvSpPr>
            <p:spPr>
              <a:xfrm>
                <a:off x="114300" y="15811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Dummy Baseline</a:t>
                </a:r>
                <a:endParaRPr b="0" sz="97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23"/>
              <p:cNvSpPr txBox="1"/>
              <p:nvPr/>
            </p:nvSpPr>
            <p:spPr>
              <a:xfrm>
                <a:off x="1714500" y="15811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14.406</a:t>
                </a:r>
                <a:endParaRPr b="0" sz="97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23"/>
              <p:cNvSpPr txBox="1"/>
              <p:nvPr/>
            </p:nvSpPr>
            <p:spPr>
              <a:xfrm>
                <a:off x="2667000" y="15811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1" name="Google Shape;391;p23"/>
              <p:cNvSpPr txBox="1"/>
              <p:nvPr/>
            </p:nvSpPr>
            <p:spPr>
              <a:xfrm>
                <a:off x="3524250" y="1581150"/>
                <a:ext cx="647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-</a:t>
                </a:r>
                <a:endParaRPr b="0" sz="97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2" name="Google Shape;392;p23"/>
            <p:cNvGrpSpPr/>
            <p:nvPr/>
          </p:nvGrpSpPr>
          <p:grpSpPr>
            <a:xfrm>
              <a:off x="0" y="2238375"/>
              <a:ext cx="4286400" cy="1047900"/>
              <a:chOff x="0" y="0"/>
              <a:chExt cx="4286400" cy="1047900"/>
            </a:xfrm>
          </p:grpSpPr>
          <p:sp>
            <p:nvSpPr>
              <p:cNvPr id="393" name="Google Shape;393;p23"/>
              <p:cNvSpPr/>
              <p:nvPr/>
            </p:nvSpPr>
            <p:spPr>
              <a:xfrm>
                <a:off x="0" y="0"/>
                <a:ext cx="42864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3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3"/>
              <p:cNvSpPr txBox="1"/>
              <p:nvPr/>
            </p:nvSpPr>
            <p:spPr>
              <a:xfrm>
                <a:off x="190500" y="152400"/>
                <a:ext cx="3943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OPERATIONAL IMPACT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Linear Regression outperformed non-linear and baseline models, reducing test RMSE to 5.260 min. These predictions directly aid dispatch planning and significantly improve customer ETA accuracy.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6" name="Google Shape;396;p23"/>
          <p:cNvGrpSpPr/>
          <p:nvPr/>
        </p:nvGrpSpPr>
        <p:grpSpPr>
          <a:xfrm>
            <a:off x="4972050" y="1095375"/>
            <a:ext cx="3714900" cy="628650"/>
            <a:chOff x="0" y="0"/>
            <a:chExt cx="3714900" cy="628650"/>
          </a:xfrm>
        </p:grpSpPr>
        <p:sp>
          <p:nvSpPr>
            <p:cNvPr id="397" name="Google Shape;397;p23"/>
            <p:cNvSpPr txBox="1"/>
            <p:nvPr/>
          </p:nvSpPr>
          <p:spPr>
            <a:xfrm>
              <a:off x="0" y="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PRIMARY PREDICTORS (FEATURE IMPORTANCE)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98" name="Google Shape;398;p23"/>
            <p:cNvGrpSpPr/>
            <p:nvPr/>
          </p:nvGrpSpPr>
          <p:grpSpPr>
            <a:xfrm>
              <a:off x="0" y="514350"/>
              <a:ext cx="3714900" cy="114300"/>
              <a:chOff x="0" y="228600"/>
              <a:chExt cx="3714900" cy="114300"/>
            </a:xfrm>
          </p:grpSpPr>
          <p:sp>
            <p:nvSpPr>
              <p:cNvPr id="399" name="Google Shape;399;p23"/>
              <p:cNvSpPr/>
              <p:nvPr/>
            </p:nvSpPr>
            <p:spPr>
              <a:xfrm>
                <a:off x="0" y="228600"/>
                <a:ext cx="37149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3"/>
              <p:cNvSpPr/>
              <p:nvPr/>
            </p:nvSpPr>
            <p:spPr>
              <a:xfrm>
                <a:off x="0" y="228600"/>
                <a:ext cx="37149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1" name="Google Shape;401;p23"/>
            <p:cNvSpPr/>
            <p:nvPr/>
          </p:nvSpPr>
          <p:spPr>
            <a:xfrm>
              <a:off x="0" y="228600"/>
              <a:ext cx="3714900" cy="1143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0" y="228600"/>
              <a:ext cx="1933500" cy="114300"/>
            </a:xfrm>
            <a:prstGeom prst="roundRect">
              <a:avLst>
                <a:gd fmla="val 5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23"/>
          <p:cNvSpPr/>
          <p:nvPr/>
        </p:nvSpPr>
        <p:spPr>
          <a:xfrm>
            <a:off x="0" y="228600"/>
            <a:ext cx="3714900" cy="114300"/>
          </a:xfrm>
          <a:prstGeom prst="roundRect">
            <a:avLst>
              <a:gd fmla="val 50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0" y="228600"/>
            <a:ext cx="800100" cy="114300"/>
          </a:xfrm>
          <a:prstGeom prst="roundRect">
            <a:avLst>
              <a:gd fmla="val 50000" name="adj"/>
            </a:avLst>
          </a:prstGeom>
          <a:solidFill>
            <a:srgbClr val="7777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23"/>
          <p:cNvGrpSpPr/>
          <p:nvPr/>
        </p:nvGrpSpPr>
        <p:grpSpPr>
          <a:xfrm>
            <a:off x="0" y="2047875"/>
            <a:ext cx="3714900" cy="1238400"/>
            <a:chOff x="0" y="0"/>
            <a:chExt cx="3714900" cy="1238400"/>
          </a:xfrm>
        </p:grpSpPr>
        <p:sp>
          <p:nvSpPr>
            <p:cNvPr id="406" name="Google Shape;406;p23"/>
            <p:cNvSpPr/>
            <p:nvPr/>
          </p:nvSpPr>
          <p:spPr>
            <a:xfrm>
              <a:off x="0" y="0"/>
              <a:ext cx="3714900" cy="1238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 txBox="1"/>
            <p:nvPr/>
          </p:nvSpPr>
          <p:spPr>
            <a:xfrm>
              <a:off x="190500" y="152400"/>
              <a:ext cx="33339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FINDING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Delivery distance remains the dominant predictor of travel time, exerting nearly double the influence of traffic conditions. Weather provides a minor but statistically significant baseline refinement.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8" name="Google Shape;408;p23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409" name="Google Shape;409;p23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3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Understanding and Predicting Order Demand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6" name="Google Shape;416;p24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7" name="Google Shape;417;p24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418" name="Google Shape;418;p24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4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0" name="Google Shape;420;p24"/>
          <p:cNvGrpSpPr/>
          <p:nvPr/>
        </p:nvGrpSpPr>
        <p:grpSpPr>
          <a:xfrm>
            <a:off x="457200" y="1085850"/>
            <a:ext cx="8229750" cy="3181500"/>
            <a:chOff x="0" y="0"/>
            <a:chExt cx="8229750" cy="3181500"/>
          </a:xfrm>
        </p:grpSpPr>
        <p:grpSp>
          <p:nvGrpSpPr>
            <p:cNvPr id="421" name="Google Shape;421;p24"/>
            <p:cNvGrpSpPr/>
            <p:nvPr/>
          </p:nvGrpSpPr>
          <p:grpSpPr>
            <a:xfrm>
              <a:off x="0" y="0"/>
              <a:ext cx="3905400" cy="3181500"/>
              <a:chOff x="0" y="0"/>
              <a:chExt cx="3905400" cy="3181500"/>
            </a:xfrm>
          </p:grpSpPr>
          <p:sp>
            <p:nvSpPr>
              <p:cNvPr id="422" name="Google Shape;422;p24"/>
              <p:cNvSpPr txBox="1"/>
              <p:nvPr/>
            </p:nvSpPr>
            <p:spPr>
              <a:xfrm>
                <a:off x="0" y="0"/>
                <a:ext cx="3905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DEMAND PATTERN ANALYSIS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Identifying hourly demand patterns is critical for forecasting order volumes. The dataset contained 5,000 total orders across 6,526 hourly observations, averaging 0.766 orders per hour.</a:t>
                </a:r>
                <a:endParaRPr b="0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423" name="Google Shape;423;p24"/>
              <p:cNvGrpSpPr/>
              <p:nvPr/>
            </p:nvGrpSpPr>
            <p:grpSpPr>
              <a:xfrm>
                <a:off x="0" y="952500"/>
                <a:ext cx="3905400" cy="1047900"/>
                <a:chOff x="0" y="0"/>
                <a:chExt cx="3905400" cy="1047900"/>
              </a:xfrm>
            </p:grpSpPr>
            <p:sp>
              <p:nvSpPr>
                <p:cNvPr id="424" name="Google Shape;424;p24"/>
                <p:cNvSpPr/>
                <p:nvPr/>
              </p:nvSpPr>
              <p:spPr>
                <a:xfrm>
                  <a:off x="0" y="0"/>
                  <a:ext cx="3905400" cy="10479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24"/>
                <p:cNvSpPr txBox="1"/>
                <p:nvPr/>
              </p:nvSpPr>
              <p:spPr>
                <a:xfrm>
                  <a:off x="228600" y="190500"/>
                  <a:ext cx="34482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77777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PEAK HOUR DEMAND</a:t>
                  </a:r>
                  <a:endParaRPr b="0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300"/>
                    </a:spcAft>
                    <a:buNone/>
                  </a:pPr>
                  <a:r>
                    <a:rPr b="1" lang="en" sz="2400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240 </a:t>
                  </a:r>
                  <a:r>
                    <a:rPr b="0" lang="en" sz="1200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orders at 2 AM</a:t>
                  </a:r>
                  <a:endParaRPr b="1" sz="240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</p:txBody>
            </p:sp>
          </p:grpSp>
          <p:grpSp>
            <p:nvGrpSpPr>
              <p:cNvPr id="426" name="Google Shape;426;p24"/>
              <p:cNvGrpSpPr/>
              <p:nvPr/>
            </p:nvGrpSpPr>
            <p:grpSpPr>
              <a:xfrm>
                <a:off x="0" y="2133600"/>
                <a:ext cx="3905400" cy="1047900"/>
                <a:chOff x="0" y="0"/>
                <a:chExt cx="3905400" cy="1047900"/>
              </a:xfrm>
            </p:grpSpPr>
            <p:sp>
              <p:nvSpPr>
                <p:cNvPr id="427" name="Google Shape;427;p24"/>
                <p:cNvSpPr/>
                <p:nvPr/>
              </p:nvSpPr>
              <p:spPr>
                <a:xfrm>
                  <a:off x="0" y="0"/>
                  <a:ext cx="3905400" cy="10479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4"/>
                <p:cNvSpPr txBox="1"/>
                <p:nvPr/>
              </p:nvSpPr>
              <p:spPr>
                <a:xfrm>
                  <a:off x="228600" y="190500"/>
                  <a:ext cx="34482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77777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HIGHEST DAILY TOTAL</a:t>
                  </a:r>
                  <a:endParaRPr b="0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300"/>
                    </a:spcAft>
                    <a:buNone/>
                  </a:pPr>
                  <a:r>
                    <a:rPr b="1" lang="en" sz="2400">
                      <a:solidFill>
                        <a:srgbClr val="06C167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770 </a:t>
                  </a:r>
                  <a:r>
                    <a:rPr b="0" lang="en" sz="1200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orders on Sunday</a:t>
                  </a:r>
                  <a:endParaRPr b="1" sz="240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</p:txBody>
            </p:sp>
          </p:grpSp>
        </p:grpSp>
        <p:grpSp>
          <p:nvGrpSpPr>
            <p:cNvPr id="429" name="Google Shape;429;p24"/>
            <p:cNvGrpSpPr/>
            <p:nvPr/>
          </p:nvGrpSpPr>
          <p:grpSpPr>
            <a:xfrm>
              <a:off x="4324350" y="0"/>
              <a:ext cx="3905400" cy="3181200"/>
              <a:chOff x="0" y="0"/>
              <a:chExt cx="3905400" cy="3181200"/>
            </a:xfrm>
          </p:grpSpPr>
          <p:sp>
            <p:nvSpPr>
              <p:cNvPr id="430" name="Google Shape;430;p24"/>
              <p:cNvSpPr/>
              <p:nvPr/>
            </p:nvSpPr>
            <p:spPr>
              <a:xfrm>
                <a:off x="0" y="0"/>
                <a:ext cx="3905400" cy="3181200"/>
              </a:xfrm>
              <a:prstGeom prst="roundRect">
                <a:avLst>
                  <a:gd fmla="val 1197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0" y="0"/>
                <a:ext cx="38100" cy="31812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4"/>
              <p:cNvSpPr txBox="1"/>
              <p:nvPr/>
            </p:nvSpPr>
            <p:spPr>
              <a:xfrm>
                <a:off x="304800" y="266700"/>
                <a:ext cx="3295800" cy="264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06C16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STATISTICAL TESTING</a:t>
                </a:r>
                <a:endParaRPr b="0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Stationarity Test Results</a:t>
                </a:r>
                <a:endParaRPr b="1" sz="13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ADF TEST STATISTIC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300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-80.518</a:t>
                </a:r>
                <a:endParaRPr b="1" sz="3000">
                  <a:solidFill>
                    <a:srgbClr val="06C16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P-VALUE</a:t>
                </a:r>
                <a:endParaRPr b="0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333333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~ 0</a:t>
                </a:r>
                <a:endParaRPr b="1" sz="1350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The null hypothesis was rejected at the 5% level, supporting stationarity for the analyzed series.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25"/>
          <p:cNvGrpSpPr/>
          <p:nvPr/>
        </p:nvGrpSpPr>
        <p:grpSpPr>
          <a:xfrm>
            <a:off x="0" y="0"/>
            <a:ext cx="9563100" cy="5143500"/>
            <a:chOff x="0" y="0"/>
            <a:chExt cx="9563100" cy="5143500"/>
          </a:xfrm>
        </p:grpSpPr>
        <p:sp>
          <p:nvSpPr>
            <p:cNvPr id="438" name="Google Shape;438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5"/>
            <p:cNvSpPr txBox="1"/>
            <p:nvPr/>
          </p:nvSpPr>
          <p:spPr>
            <a:xfrm>
              <a:off x="457200" y="3810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Comparing Time-Series Models</a:t>
              </a:r>
              <a:endParaRPr b="1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40" name="Google Shape;440;p25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41" name="Google Shape;441;p25"/>
            <p:cNvGrpSpPr/>
            <p:nvPr/>
          </p:nvGrpSpPr>
          <p:grpSpPr>
            <a:xfrm>
              <a:off x="7429500" y="4686300"/>
              <a:ext cx="2133600" cy="190500"/>
              <a:chOff x="0" y="0"/>
              <a:chExt cx="2133600" cy="190500"/>
            </a:xfrm>
          </p:grpSpPr>
          <p:sp>
            <p:nvSpPr>
              <p:cNvPr id="442" name="Google Shape;442;p25"/>
              <p:cNvSpPr/>
              <p:nvPr/>
            </p:nvSpPr>
            <p:spPr>
              <a:xfrm>
                <a:off x="0" y="0"/>
                <a:ext cx="1524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5"/>
              <p:cNvSpPr txBox="1"/>
              <p:nvPr/>
            </p:nvSpPr>
            <p:spPr>
              <a:xfrm>
                <a:off x="228600" y="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ANALYTICS &amp; ML</a:t>
                </a:r>
                <a:endParaRPr b="1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4" name="Google Shape;444;p25"/>
          <p:cNvGrpSpPr/>
          <p:nvPr/>
        </p:nvGrpSpPr>
        <p:grpSpPr>
          <a:xfrm>
            <a:off x="457200" y="1028700"/>
            <a:ext cx="8229600" cy="533400"/>
            <a:chOff x="0" y="0"/>
            <a:chExt cx="8229600" cy="533400"/>
          </a:xfrm>
        </p:grpSpPr>
        <p:sp>
          <p:nvSpPr>
            <p:cNvPr id="445" name="Google Shape;445;p25"/>
            <p:cNvSpPr/>
            <p:nvPr/>
          </p:nvSpPr>
          <p:spPr>
            <a:xfrm>
              <a:off x="0" y="0"/>
              <a:ext cx="8229600" cy="5334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 txBox="1"/>
            <p:nvPr/>
          </p:nvSpPr>
          <p:spPr>
            <a:xfrm>
              <a:off x="228600" y="9525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 Setup: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Evaluated using </a:t>
              </a: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6,190 hours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of training data and </a:t>
              </a: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336 hours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of testing data covering </a:t>
              </a:r>
              <a:r>
                <a:rPr b="0" lang="en" sz="97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September 16–29, 2026</a:t>
              </a: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7" name="Google Shape;447;p25"/>
          <p:cNvGrpSpPr/>
          <p:nvPr/>
        </p:nvGrpSpPr>
        <p:grpSpPr>
          <a:xfrm>
            <a:off x="457200" y="1733550"/>
            <a:ext cx="8229600" cy="1752600"/>
            <a:chOff x="0" y="0"/>
            <a:chExt cx="8229600" cy="1752600"/>
          </a:xfrm>
        </p:grpSpPr>
        <p:grpSp>
          <p:nvGrpSpPr>
            <p:cNvPr id="448" name="Google Shape;448;p25"/>
            <p:cNvGrpSpPr/>
            <p:nvPr/>
          </p:nvGrpSpPr>
          <p:grpSpPr>
            <a:xfrm>
              <a:off x="0" y="0"/>
              <a:ext cx="4000500" cy="1752600"/>
              <a:chOff x="0" y="0"/>
              <a:chExt cx="4000500" cy="1752600"/>
            </a:xfrm>
          </p:grpSpPr>
          <p:sp>
            <p:nvSpPr>
              <p:cNvPr id="449" name="Google Shape;449;p25"/>
              <p:cNvSpPr/>
              <p:nvPr/>
            </p:nvSpPr>
            <p:spPr>
              <a:xfrm>
                <a:off x="0" y="0"/>
                <a:ext cx="4000500" cy="1752600"/>
              </a:xfrm>
              <a:prstGeom prst="roundRect">
                <a:avLst>
                  <a:gd fmla="val 217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5"/>
              <p:cNvSpPr/>
              <p:nvPr/>
            </p:nvSpPr>
            <p:spPr>
              <a:xfrm>
                <a:off x="0" y="0"/>
                <a:ext cx="4000500" cy="228600"/>
              </a:xfrm>
              <a:prstGeom prst="roundRect">
                <a:avLst>
                  <a:gd fmla="val 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5"/>
              <p:cNvSpPr txBox="1"/>
              <p:nvPr/>
            </p:nvSpPr>
            <p:spPr>
              <a:xfrm>
                <a:off x="152400" y="28575"/>
                <a:ext cx="3695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SELECTED MODEL</a:t>
                </a:r>
                <a:endParaRPr b="0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52" name="Google Shape;452;p25"/>
              <p:cNvSpPr txBox="1"/>
              <p:nvPr/>
            </p:nvSpPr>
            <p:spPr>
              <a:xfrm>
                <a:off x="190500" y="323850"/>
                <a:ext cx="36195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6C167"/>
                    </a:solidFill>
                    <a:latin typeface="Inter"/>
                    <a:ea typeface="Inter"/>
                    <a:cs typeface="Inter"/>
                    <a:sym typeface="Inter"/>
                  </a:rPr>
                  <a:t>Prophet</a:t>
                </a:r>
                <a:endParaRPr b="1" sz="1350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MAE: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0.671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RMSE: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333333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0.819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MAPE (Nonzero):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29.71%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3" name="Google Shape;453;p25"/>
            <p:cNvGrpSpPr/>
            <p:nvPr/>
          </p:nvGrpSpPr>
          <p:grpSpPr>
            <a:xfrm>
              <a:off x="4229100" y="0"/>
              <a:ext cx="4000500" cy="1752600"/>
              <a:chOff x="0" y="0"/>
              <a:chExt cx="4000500" cy="1752600"/>
            </a:xfrm>
          </p:grpSpPr>
          <p:sp>
            <p:nvSpPr>
              <p:cNvPr id="454" name="Google Shape;454;p25"/>
              <p:cNvSpPr/>
              <p:nvPr/>
            </p:nvSpPr>
            <p:spPr>
              <a:xfrm>
                <a:off x="0" y="0"/>
                <a:ext cx="4000500" cy="1752600"/>
              </a:xfrm>
              <a:prstGeom prst="roundRect">
                <a:avLst>
                  <a:gd fmla="val 2173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5"/>
              <p:cNvSpPr txBox="1"/>
              <p:nvPr/>
            </p:nvSpPr>
            <p:spPr>
              <a:xfrm>
                <a:off x="190500" y="323850"/>
                <a:ext cx="36195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ARIMA (1,0,1)</a:t>
                </a:r>
                <a:endParaRPr b="1" sz="13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MAE: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333333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0.672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RMSE: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06C16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0.809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77777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MAPE:</a:t>
                </a:r>
                <a:r>
                  <a:rPr b="0" lang="en" sz="975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350">
                    <a:solidFill>
                      <a:srgbClr val="333333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34.69%</a:t>
                </a:r>
                <a:endParaRPr b="0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56" name="Google Shape;456;p25"/>
          <p:cNvGrpSpPr/>
          <p:nvPr/>
        </p:nvGrpSpPr>
        <p:grpSpPr>
          <a:xfrm>
            <a:off x="457200" y="3657600"/>
            <a:ext cx="8229600" cy="838200"/>
            <a:chOff x="0" y="0"/>
            <a:chExt cx="8229600" cy="838200"/>
          </a:xfrm>
        </p:grpSpPr>
        <p:sp>
          <p:nvSpPr>
            <p:cNvPr id="457" name="Google Shape;457;p25"/>
            <p:cNvSpPr/>
            <p:nvPr/>
          </p:nvSpPr>
          <p:spPr>
            <a:xfrm>
              <a:off x="0" y="0"/>
              <a:ext cx="8229600" cy="838200"/>
            </a:xfrm>
            <a:prstGeom prst="roundRect">
              <a:avLst>
                <a:gd fmla="val 454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5"/>
            <p:cNvSpPr txBox="1"/>
            <p:nvPr/>
          </p:nvSpPr>
          <p:spPr>
            <a:xfrm>
              <a:off x="228600" y="152400"/>
              <a:ext cx="777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SELECTION RATIONALE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While overall performance was very similar between models, </a:t>
              </a:r>
              <a:r>
                <a:rPr b="0" lang="en" sz="1050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Prophet was selected</a:t>
              </a:r>
              <a:r>
                <a:rPr b="0" lang="en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based on its lower Mean Absolute Error (</a:t>
              </a:r>
              <a:r>
                <a:rPr b="0" lang="en" sz="1050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MAE 0.671</a:t>
              </a:r>
              <a:r>
                <a:rPr b="0" lang="en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) and superior handling of nonzero actual values (</a:t>
              </a:r>
              <a:r>
                <a:rPr b="0" lang="en" sz="1050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MAPE 29.71%</a:t>
              </a:r>
              <a:r>
                <a:rPr b="0" lang="en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vs 34.69%).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5" name="Google Shape;465;p26"/>
          <p:cNvGrpSpPr/>
          <p:nvPr/>
        </p:nvGrpSpPr>
        <p:grpSpPr>
          <a:xfrm>
            <a:off x="457200" y="342900"/>
            <a:ext cx="8229600" cy="457200"/>
            <a:chOff x="457200" y="342900"/>
            <a:chExt cx="8229600" cy="457200"/>
          </a:xfrm>
        </p:grpSpPr>
        <p:sp>
          <p:nvSpPr>
            <p:cNvPr id="466" name="Google Shape;466;p26"/>
            <p:cNvSpPr txBox="1"/>
            <p:nvPr/>
          </p:nvSpPr>
          <p:spPr>
            <a:xfrm>
              <a:off x="457200" y="3429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How Can Uber Eats Use These Results?</a:t>
              </a:r>
              <a:endParaRPr b="1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67" name="Google Shape;467;p26"/>
            <p:cNvCxnSpPr/>
            <p:nvPr/>
          </p:nvCxnSpPr>
          <p:spPr>
            <a:xfrm>
              <a:off x="457200" y="8001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8" name="Google Shape;468;p26"/>
          <p:cNvSpPr txBox="1"/>
          <p:nvPr/>
        </p:nvSpPr>
        <p:spPr>
          <a:xfrm>
            <a:off x="457200" y="93345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rPr>
              <a:t>The analytical findings translate into direct operational benefits.</a:t>
            </a:r>
            <a:endParaRPr b="0" sz="1125">
              <a:solidFill>
                <a:srgbClr val="5555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69" name="Google Shape;469;p26"/>
          <p:cNvGrpSpPr/>
          <p:nvPr/>
        </p:nvGrpSpPr>
        <p:grpSpPr>
          <a:xfrm>
            <a:off x="457200" y="1314450"/>
            <a:ext cx="2628900" cy="1447800"/>
            <a:chOff x="0" y="0"/>
            <a:chExt cx="2628900" cy="1447800"/>
          </a:xfrm>
        </p:grpSpPr>
        <p:sp>
          <p:nvSpPr>
            <p:cNvPr id="470" name="Google Shape;470;p26"/>
            <p:cNvSpPr/>
            <p:nvPr/>
          </p:nvSpPr>
          <p:spPr>
            <a:xfrm>
              <a:off x="0" y="0"/>
              <a:ext cx="2628900" cy="14478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0" y="0"/>
              <a:ext cx="2628900" cy="28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 txBox="1"/>
            <p:nvPr/>
          </p:nvSpPr>
          <p:spPr>
            <a:xfrm>
              <a:off x="190500" y="171450"/>
              <a:ext cx="2247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 / RETENTION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Customer Retention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High-spending customer segments should be targeted with loyalty campaigns to boost retention.</a:t>
              </a:r>
              <a:endParaRPr b="0" sz="9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3" name="Google Shape;473;p26"/>
          <p:cNvGrpSpPr/>
          <p:nvPr/>
        </p:nvGrpSpPr>
        <p:grpSpPr>
          <a:xfrm>
            <a:off x="3257550" y="1314450"/>
            <a:ext cx="2628900" cy="1447800"/>
            <a:chOff x="0" y="0"/>
            <a:chExt cx="2628900" cy="1447800"/>
          </a:xfrm>
        </p:grpSpPr>
        <p:sp>
          <p:nvSpPr>
            <p:cNvPr id="474" name="Google Shape;474;p26"/>
            <p:cNvSpPr/>
            <p:nvPr/>
          </p:nvSpPr>
          <p:spPr>
            <a:xfrm>
              <a:off x="0" y="0"/>
              <a:ext cx="2628900" cy="14478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0" y="0"/>
              <a:ext cx="2628900" cy="28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 txBox="1"/>
            <p:nvPr/>
          </p:nvSpPr>
          <p:spPr>
            <a:xfrm>
              <a:off x="190500" y="171450"/>
              <a:ext cx="2247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 / OPERATIONS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Restaurant Operations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Restaurants exhibiting high cancellation rates require immediate operational investigation.</a:t>
              </a:r>
              <a:endParaRPr b="0" sz="9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7" name="Google Shape;477;p26"/>
          <p:cNvGrpSpPr/>
          <p:nvPr/>
        </p:nvGrpSpPr>
        <p:grpSpPr>
          <a:xfrm>
            <a:off x="6057900" y="1314450"/>
            <a:ext cx="2628900" cy="1447800"/>
            <a:chOff x="0" y="0"/>
            <a:chExt cx="2628900" cy="1447800"/>
          </a:xfrm>
        </p:grpSpPr>
        <p:sp>
          <p:nvSpPr>
            <p:cNvPr id="478" name="Google Shape;478;p26"/>
            <p:cNvSpPr/>
            <p:nvPr/>
          </p:nvSpPr>
          <p:spPr>
            <a:xfrm>
              <a:off x="0" y="0"/>
              <a:ext cx="2628900" cy="14478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0" y="0"/>
              <a:ext cx="2628900" cy="28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 txBox="1"/>
            <p:nvPr/>
          </p:nvSpPr>
          <p:spPr>
            <a:xfrm>
              <a:off x="190500" y="171450"/>
              <a:ext cx="2247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 / EXPERIENCE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Customer Experience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Analyzing negative feedback enables proactive customer experience management and recurring complaint resolution.</a:t>
              </a:r>
              <a:endParaRPr b="0" sz="9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1" name="Google Shape;481;p26"/>
          <p:cNvGrpSpPr/>
          <p:nvPr/>
        </p:nvGrpSpPr>
        <p:grpSpPr>
          <a:xfrm>
            <a:off x="457200" y="2933700"/>
            <a:ext cx="4029000" cy="1447800"/>
            <a:chOff x="0" y="0"/>
            <a:chExt cx="4029000" cy="1447800"/>
          </a:xfrm>
        </p:grpSpPr>
        <p:sp>
          <p:nvSpPr>
            <p:cNvPr id="482" name="Google Shape;482;p26"/>
            <p:cNvSpPr/>
            <p:nvPr/>
          </p:nvSpPr>
          <p:spPr>
            <a:xfrm>
              <a:off x="0" y="0"/>
              <a:ext cx="4029000" cy="14478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0" y="0"/>
              <a:ext cx="4029000" cy="28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 txBox="1"/>
            <p:nvPr/>
          </p:nvSpPr>
          <p:spPr>
            <a:xfrm>
              <a:off x="228600" y="171450"/>
              <a:ext cx="3571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 / LOGISTICS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Delivery Operations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Delivery-time predictions can optimize ETA accuracy and dispatching.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5" name="Google Shape;485;p26"/>
          <p:cNvGrpSpPr/>
          <p:nvPr/>
        </p:nvGrpSpPr>
        <p:grpSpPr>
          <a:xfrm>
            <a:off x="4657725" y="2933700"/>
            <a:ext cx="4029000" cy="1447800"/>
            <a:chOff x="0" y="0"/>
            <a:chExt cx="4029000" cy="1447800"/>
          </a:xfrm>
        </p:grpSpPr>
        <p:sp>
          <p:nvSpPr>
            <p:cNvPr id="486" name="Google Shape;486;p26"/>
            <p:cNvSpPr/>
            <p:nvPr/>
          </p:nvSpPr>
          <p:spPr>
            <a:xfrm>
              <a:off x="0" y="0"/>
              <a:ext cx="4029000" cy="14478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0" y="0"/>
              <a:ext cx="4029000" cy="28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6"/>
            <p:cNvSpPr txBox="1"/>
            <p:nvPr/>
          </p:nvSpPr>
          <p:spPr>
            <a:xfrm>
              <a:off x="228600" y="171450"/>
              <a:ext cx="3571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05 / FORECASTING</a:t>
              </a:r>
              <a:endParaRPr b="0" sz="825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Demand Planning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Hourly demand forecasts allow for highly efficient delivery partner capacity allocation during peak times.</a:t>
              </a:r>
              <a:endParaRPr b="0" sz="97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9" name="Google Shape;489;p26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490" name="Google Shape;490;p26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/>
          <p:nvPr/>
        </p:nvSpPr>
        <p:spPr>
          <a:xfrm>
            <a:off x="457200" y="381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Limitations &amp; Future Scope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97" name="Google Shape;497;p27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8" name="Google Shape;498;p27"/>
          <p:cNvGrpSpPr/>
          <p:nvPr/>
        </p:nvGrpSpPr>
        <p:grpSpPr>
          <a:xfrm>
            <a:off x="457200" y="1143000"/>
            <a:ext cx="8229600" cy="3390900"/>
            <a:chOff x="0" y="0"/>
            <a:chExt cx="8229600" cy="3390900"/>
          </a:xfrm>
        </p:grpSpPr>
        <p:grpSp>
          <p:nvGrpSpPr>
            <p:cNvPr id="499" name="Google Shape;499;p27"/>
            <p:cNvGrpSpPr/>
            <p:nvPr/>
          </p:nvGrpSpPr>
          <p:grpSpPr>
            <a:xfrm>
              <a:off x="0" y="0"/>
              <a:ext cx="4000500" cy="3390900"/>
              <a:chOff x="0" y="0"/>
              <a:chExt cx="4000500" cy="3390900"/>
            </a:xfrm>
          </p:grpSpPr>
          <p:sp>
            <p:nvSpPr>
              <p:cNvPr id="500" name="Google Shape;500;p27"/>
              <p:cNvSpPr/>
              <p:nvPr/>
            </p:nvSpPr>
            <p:spPr>
              <a:xfrm>
                <a:off x="0" y="0"/>
                <a:ext cx="4000500" cy="19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7"/>
              <p:cNvSpPr txBox="1"/>
              <p:nvPr/>
            </p:nvSpPr>
            <p:spPr>
              <a:xfrm>
                <a:off x="0" y="152400"/>
                <a:ext cx="40005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33333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Current Limitations</a:t>
                </a:r>
                <a:endParaRPr b="0" sz="13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Synthetic Data Dependency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Models currently rely on synthetic datasets, which may not capture full real-world noise.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Cluster &amp; Sentiment Separation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Moderate cluster separation observed. Restricted to 15 review templates, limiting sentiment generalization.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Correlation vs. Causation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120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Identified statistical correlations do not imply direct causal relationships.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2" name="Google Shape;502;p27"/>
            <p:cNvGrpSpPr/>
            <p:nvPr/>
          </p:nvGrpSpPr>
          <p:grpSpPr>
            <a:xfrm>
              <a:off x="4229100" y="0"/>
              <a:ext cx="4000500" cy="3390900"/>
              <a:chOff x="0" y="0"/>
              <a:chExt cx="4000500" cy="3390900"/>
            </a:xfrm>
          </p:grpSpPr>
          <p:sp>
            <p:nvSpPr>
              <p:cNvPr id="503" name="Google Shape;503;p27"/>
              <p:cNvSpPr/>
              <p:nvPr/>
            </p:nvSpPr>
            <p:spPr>
              <a:xfrm>
                <a:off x="0" y="0"/>
                <a:ext cx="4000500" cy="19200"/>
              </a:xfrm>
              <a:prstGeom prst="rect">
                <a:avLst/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7"/>
              <p:cNvSpPr txBox="1"/>
              <p:nvPr/>
            </p:nvSpPr>
            <p:spPr>
              <a:xfrm>
                <a:off x="0" y="152400"/>
                <a:ext cx="40005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6C16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Future Scope &amp; Next Steps</a:t>
                </a:r>
                <a:endParaRPr b="0" sz="1350">
                  <a:solidFill>
                    <a:srgbClr val="06C16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Production Datasets &amp; Validation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Transition to real-world production datasets while enhancing review diversity through manual validation.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Advanced Modeling Techniques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Experiment with dynamic forecasting methods and location-based ML architectures.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33333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Deployment &amp; Interactive Dashboards</a:t>
                </a:r>
                <a:endParaRPr b="0" sz="10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1200"/>
                  </a:spcAft>
                  <a:buNone/>
                </a:pPr>
                <a:r>
                  <a:rPr b="0" lang="en" sz="105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Build interactive business dashboards and deploy production ML models via API with real-time monitoring.</a:t>
                </a:r>
                <a:endParaRPr b="0" sz="105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05" name="Google Shape;505;p27"/>
          <p:cNvGrpSpPr/>
          <p:nvPr/>
        </p:nvGrpSpPr>
        <p:grpSpPr>
          <a:xfrm>
            <a:off x="7429500" y="4686300"/>
            <a:ext cx="2133600" cy="190500"/>
            <a:chOff x="0" y="0"/>
            <a:chExt cx="2133600" cy="190500"/>
          </a:xfrm>
        </p:grpSpPr>
        <p:sp>
          <p:nvSpPr>
            <p:cNvPr id="506" name="Google Shape;506;p27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22860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457200" y="3619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Complete Project Workflow &amp; Deliverables</a:t>
            </a:r>
            <a:endParaRPr b="1" sz="19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4" name="Google Shape;514;p28"/>
          <p:cNvCxnSpPr/>
          <p:nvPr/>
        </p:nvCxnSpPr>
        <p:spPr>
          <a:xfrm>
            <a:off x="457200" y="8382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28"/>
          <p:cNvCxnSpPr/>
          <p:nvPr/>
        </p:nvCxnSpPr>
        <p:spPr>
          <a:xfrm>
            <a:off x="1981200" y="1466850"/>
            <a:ext cx="152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6C16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28"/>
          <p:cNvCxnSpPr/>
          <p:nvPr/>
        </p:nvCxnSpPr>
        <p:spPr>
          <a:xfrm>
            <a:off x="3657600" y="1466850"/>
            <a:ext cx="152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6C16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28"/>
          <p:cNvCxnSpPr/>
          <p:nvPr/>
        </p:nvCxnSpPr>
        <p:spPr>
          <a:xfrm>
            <a:off x="5334000" y="1466850"/>
            <a:ext cx="152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6C16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28"/>
          <p:cNvCxnSpPr/>
          <p:nvPr/>
        </p:nvCxnSpPr>
        <p:spPr>
          <a:xfrm>
            <a:off x="7010400" y="1466850"/>
            <a:ext cx="152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6C16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9" name="Google Shape;519;p28"/>
          <p:cNvGrpSpPr/>
          <p:nvPr/>
        </p:nvGrpSpPr>
        <p:grpSpPr>
          <a:xfrm>
            <a:off x="457200" y="1000125"/>
            <a:ext cx="1524000" cy="933600"/>
            <a:chOff x="0" y="0"/>
            <a:chExt cx="1524000" cy="933600"/>
          </a:xfrm>
        </p:grpSpPr>
        <p:sp>
          <p:nvSpPr>
            <p:cNvPr id="520" name="Google Shape;520;p28"/>
            <p:cNvSpPr/>
            <p:nvPr/>
          </p:nvSpPr>
          <p:spPr>
            <a:xfrm>
              <a:off x="0" y="0"/>
              <a:ext cx="1524000" cy="933600"/>
            </a:xfrm>
            <a:prstGeom prst="roundRect">
              <a:avLst>
                <a:gd fmla="val 4081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0" y="0"/>
              <a:ext cx="15240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8"/>
            <p:cNvSpPr txBox="1"/>
            <p:nvPr/>
          </p:nvSpPr>
          <p:spPr>
            <a:xfrm>
              <a:off x="133350" y="133350"/>
              <a:ext cx="1257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STAGE 01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Synthetic Data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Generation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3" name="Google Shape;523;p28"/>
          <p:cNvGrpSpPr/>
          <p:nvPr/>
        </p:nvGrpSpPr>
        <p:grpSpPr>
          <a:xfrm>
            <a:off x="2133600" y="1000125"/>
            <a:ext cx="1524000" cy="933600"/>
            <a:chOff x="0" y="0"/>
            <a:chExt cx="1524000" cy="933600"/>
          </a:xfrm>
        </p:grpSpPr>
        <p:sp>
          <p:nvSpPr>
            <p:cNvPr id="524" name="Google Shape;524;p28"/>
            <p:cNvSpPr/>
            <p:nvPr/>
          </p:nvSpPr>
          <p:spPr>
            <a:xfrm>
              <a:off x="0" y="0"/>
              <a:ext cx="1524000" cy="933600"/>
            </a:xfrm>
            <a:prstGeom prst="roundRect">
              <a:avLst>
                <a:gd fmla="val 4081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0" y="0"/>
              <a:ext cx="15240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8"/>
            <p:cNvSpPr txBox="1"/>
            <p:nvPr/>
          </p:nvSpPr>
          <p:spPr>
            <a:xfrm>
              <a:off x="133350" y="133350"/>
              <a:ext cx="1257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STAGE 02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Data Cleaning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&amp; Validation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7" name="Google Shape;527;p28"/>
          <p:cNvGrpSpPr/>
          <p:nvPr/>
        </p:nvGrpSpPr>
        <p:grpSpPr>
          <a:xfrm>
            <a:off x="3810000" y="1000125"/>
            <a:ext cx="1524000" cy="933600"/>
            <a:chOff x="0" y="0"/>
            <a:chExt cx="1524000" cy="933600"/>
          </a:xfrm>
        </p:grpSpPr>
        <p:sp>
          <p:nvSpPr>
            <p:cNvPr id="528" name="Google Shape;528;p28"/>
            <p:cNvSpPr/>
            <p:nvPr/>
          </p:nvSpPr>
          <p:spPr>
            <a:xfrm>
              <a:off x="0" y="0"/>
              <a:ext cx="1524000" cy="933600"/>
            </a:xfrm>
            <a:prstGeom prst="roundRect">
              <a:avLst>
                <a:gd fmla="val 4081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0" y="0"/>
              <a:ext cx="15240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8"/>
            <p:cNvSpPr txBox="1"/>
            <p:nvPr/>
          </p:nvSpPr>
          <p:spPr>
            <a:xfrm>
              <a:off x="133350" y="133350"/>
              <a:ext cx="1257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STAGE 03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Engineering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1" name="Google Shape;531;p28"/>
          <p:cNvGrpSpPr/>
          <p:nvPr/>
        </p:nvGrpSpPr>
        <p:grpSpPr>
          <a:xfrm>
            <a:off x="5486400" y="1000125"/>
            <a:ext cx="1524000" cy="933600"/>
            <a:chOff x="0" y="0"/>
            <a:chExt cx="1524000" cy="933600"/>
          </a:xfrm>
        </p:grpSpPr>
        <p:sp>
          <p:nvSpPr>
            <p:cNvPr id="532" name="Google Shape;532;p28"/>
            <p:cNvSpPr/>
            <p:nvPr/>
          </p:nvSpPr>
          <p:spPr>
            <a:xfrm>
              <a:off x="0" y="0"/>
              <a:ext cx="1524000" cy="933600"/>
            </a:xfrm>
            <a:prstGeom prst="roundRect">
              <a:avLst>
                <a:gd fmla="val 4081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0" y="0"/>
              <a:ext cx="15240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8"/>
            <p:cNvSpPr txBox="1"/>
            <p:nvPr/>
          </p:nvSpPr>
          <p:spPr>
            <a:xfrm>
              <a:off x="133350" y="133350"/>
              <a:ext cx="1257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STAGE 04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Model Evaluation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&amp; Comparison</a:t>
              </a:r>
              <a:endParaRPr b="1" sz="9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5" name="Google Shape;535;p28"/>
          <p:cNvGrpSpPr/>
          <p:nvPr/>
        </p:nvGrpSpPr>
        <p:grpSpPr>
          <a:xfrm>
            <a:off x="7162800" y="1000125"/>
            <a:ext cx="1524000" cy="933600"/>
            <a:chOff x="0" y="0"/>
            <a:chExt cx="1524000" cy="933600"/>
          </a:xfrm>
        </p:grpSpPr>
        <p:sp>
          <p:nvSpPr>
            <p:cNvPr id="536" name="Google Shape;536;p28"/>
            <p:cNvSpPr/>
            <p:nvPr/>
          </p:nvSpPr>
          <p:spPr>
            <a:xfrm>
              <a:off x="0" y="0"/>
              <a:ext cx="1524000" cy="933600"/>
            </a:xfrm>
            <a:prstGeom prst="roundRect">
              <a:avLst>
                <a:gd fmla="val 4081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0" y="0"/>
              <a:ext cx="15240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8"/>
            <p:cNvSpPr txBox="1"/>
            <p:nvPr/>
          </p:nvSpPr>
          <p:spPr>
            <a:xfrm>
              <a:off x="133350" y="133350"/>
              <a:ext cx="1257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6C16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STAGE 05</a:t>
              </a:r>
              <a:endParaRPr b="0" sz="750">
                <a:solidFill>
                  <a:srgbClr val="06C16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Business</a:t>
              </a:r>
              <a:endParaRPr b="1" sz="975">
                <a:solidFill>
                  <a:srgbClr val="06C16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Insights</a:t>
              </a:r>
              <a:endParaRPr b="1" sz="975">
                <a:solidFill>
                  <a:srgbClr val="06C16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28"/>
          <p:cNvGrpSpPr/>
          <p:nvPr/>
        </p:nvGrpSpPr>
        <p:grpSpPr>
          <a:xfrm>
            <a:off x="457200" y="2143125"/>
            <a:ext cx="4000500" cy="2381400"/>
            <a:chOff x="0" y="0"/>
            <a:chExt cx="4000500" cy="2381400"/>
          </a:xfrm>
        </p:grpSpPr>
        <p:sp>
          <p:nvSpPr>
            <p:cNvPr id="540" name="Google Shape;540;p28"/>
            <p:cNvSpPr/>
            <p:nvPr/>
          </p:nvSpPr>
          <p:spPr>
            <a:xfrm>
              <a:off x="0" y="0"/>
              <a:ext cx="4000500" cy="2381400"/>
            </a:xfrm>
            <a:prstGeom prst="roundRect">
              <a:avLst>
                <a:gd fmla="val 24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8"/>
            <p:cNvSpPr txBox="1"/>
            <p:nvPr/>
          </p:nvSpPr>
          <p:spPr>
            <a:xfrm>
              <a:off x="190500" y="152400"/>
              <a:ext cx="361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ASSETS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Key Project Deliverables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233363" y="7096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8"/>
            <p:cNvSpPr txBox="1"/>
            <p:nvPr/>
          </p:nvSpPr>
          <p:spPr>
            <a:xfrm>
              <a:off x="381000" y="647700"/>
              <a:ext cx="3429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 Synthetic Datasets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Generated across modeling pipeline stages</a:t>
              </a:r>
              <a:endParaRPr b="0" sz="8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233363" y="110966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8"/>
            <p:cNvSpPr txBox="1"/>
            <p:nvPr/>
          </p:nvSpPr>
          <p:spPr>
            <a:xfrm>
              <a:off x="381000" y="1047750"/>
              <a:ext cx="3429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Comprehensive Data Dictionary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Full feature descriptions &amp; schema specs</a:t>
              </a:r>
              <a:endParaRPr b="0" sz="8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233363" y="15097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8"/>
            <p:cNvSpPr txBox="1"/>
            <p:nvPr/>
          </p:nvSpPr>
          <p:spPr>
            <a:xfrm>
              <a:off x="381000" y="1447800"/>
              <a:ext cx="3429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Validation Scripts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Automated data cleaning &amp; quality assurance</a:t>
              </a:r>
              <a:endParaRPr b="0" sz="8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233363" y="190976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8"/>
            <p:cNvSpPr txBox="1"/>
            <p:nvPr/>
          </p:nvSpPr>
          <p:spPr>
            <a:xfrm>
              <a:off x="381000" y="1847850"/>
              <a:ext cx="3429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GitHub Repository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rPr>
                <a:t>Complete codebase with full documentation</a:t>
              </a:r>
              <a:endParaRPr b="0" sz="8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1" name="Google Shape;551;p28"/>
          <p:cNvGrpSpPr/>
          <p:nvPr/>
        </p:nvGrpSpPr>
        <p:grpSpPr>
          <a:xfrm>
            <a:off x="4686300" y="2143125"/>
            <a:ext cx="4000500" cy="2381400"/>
            <a:chOff x="0" y="0"/>
            <a:chExt cx="4000500" cy="2381400"/>
          </a:xfrm>
        </p:grpSpPr>
        <p:sp>
          <p:nvSpPr>
            <p:cNvPr id="552" name="Google Shape;552;p28"/>
            <p:cNvSpPr/>
            <p:nvPr/>
          </p:nvSpPr>
          <p:spPr>
            <a:xfrm>
              <a:off x="0" y="0"/>
              <a:ext cx="4000500" cy="2381400"/>
            </a:xfrm>
            <a:prstGeom prst="roundRect">
              <a:avLst>
                <a:gd fmla="val 24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8"/>
            <p:cNvSpPr txBox="1"/>
            <p:nvPr/>
          </p:nvSpPr>
          <p:spPr>
            <a:xfrm>
              <a:off x="190500" y="152400"/>
              <a:ext cx="361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INTELLIGENCE &amp; MODELS</a:t>
              </a:r>
              <a:endParaRPr b="0" sz="750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Analytical Outputs</a:t>
              </a:r>
              <a:endParaRPr b="1" sz="11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233363" y="6715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8"/>
            <p:cNvSpPr txBox="1"/>
            <p:nvPr/>
          </p:nvSpPr>
          <p:spPr>
            <a:xfrm>
              <a:off x="381000" y="628650"/>
              <a:ext cx="3429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Segmentation &amp; PCA Analysis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>
              <a:off x="233363" y="9763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8"/>
            <p:cNvSpPr txBox="1"/>
            <p:nvPr/>
          </p:nvSpPr>
          <p:spPr>
            <a:xfrm>
              <a:off x="381000" y="933450"/>
              <a:ext cx="3429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NLP Sentiment Classification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59" name="Google Shape;559;p28"/>
            <p:cNvSpPr/>
            <p:nvPr/>
          </p:nvSpPr>
          <p:spPr>
            <a:xfrm>
              <a:off x="233363" y="12811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 txBox="1"/>
            <p:nvPr/>
          </p:nvSpPr>
          <p:spPr>
            <a:xfrm>
              <a:off x="381000" y="1238250"/>
              <a:ext cx="3429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Delivery-Time Regression Models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233363" y="15859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8"/>
            <p:cNvSpPr txBox="1"/>
            <p:nvPr/>
          </p:nvSpPr>
          <p:spPr>
            <a:xfrm>
              <a:off x="381000" y="1543050"/>
              <a:ext cx="3429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0000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ARIMA &amp; Prophet Forecasting</a:t>
              </a:r>
              <a:endParaRPr b="0" sz="975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233363" y="1890713"/>
              <a:ext cx="66600" cy="66600"/>
            </a:xfrm>
            <a:prstGeom prst="ellipse">
              <a:avLst/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8"/>
            <p:cNvSpPr txBox="1"/>
            <p:nvPr/>
          </p:nvSpPr>
          <p:spPr>
            <a:xfrm>
              <a:off x="381000" y="1847850"/>
              <a:ext cx="3429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06C167"/>
                  </a:solidFill>
                  <a:latin typeface="Inter"/>
                  <a:ea typeface="Inter"/>
                  <a:cs typeface="Inter"/>
                  <a:sym typeface="Inter"/>
                </a:rPr>
                <a:t>Actionable Business Insights</a:t>
              </a:r>
              <a:endParaRPr b="1" sz="975">
                <a:solidFill>
                  <a:srgbClr val="06C16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5" name="Google Shape;565;p28"/>
          <p:cNvGrpSpPr/>
          <p:nvPr/>
        </p:nvGrpSpPr>
        <p:grpSpPr>
          <a:xfrm>
            <a:off x="7143750" y="4667250"/>
            <a:ext cx="1657500" cy="190500"/>
            <a:chOff x="0" y="-19050"/>
            <a:chExt cx="1657500" cy="190500"/>
          </a:xfrm>
        </p:grpSpPr>
        <p:sp>
          <p:nvSpPr>
            <p:cNvPr id="566" name="Google Shape;566;p28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125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8"/>
            <p:cNvSpPr txBox="1"/>
            <p:nvPr/>
          </p:nvSpPr>
          <p:spPr>
            <a:xfrm>
              <a:off x="228600" y="-1905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ANALYTICS &amp; ML</a:t>
              </a:r>
              <a:endParaRPr b="1" sz="8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29"/>
          <p:cNvGrpSpPr/>
          <p:nvPr/>
        </p:nvGrpSpPr>
        <p:grpSpPr>
          <a:xfrm>
            <a:off x="0" y="0"/>
            <a:ext cx="9563100" cy="5143500"/>
            <a:chOff x="0" y="0"/>
            <a:chExt cx="9563100" cy="5143500"/>
          </a:xfrm>
        </p:grpSpPr>
        <p:sp>
          <p:nvSpPr>
            <p:cNvPr id="573" name="Google Shape;573;p2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 txBox="1"/>
            <p:nvPr/>
          </p:nvSpPr>
          <p:spPr>
            <a:xfrm>
              <a:off x="457200" y="3810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Conclusion &amp; Thank You</a:t>
              </a:r>
              <a:endParaRPr b="1" sz="19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75" name="Google Shape;575;p29"/>
            <p:cNvCxnSpPr/>
            <p:nvPr/>
          </p:nvCxnSpPr>
          <p:spPr>
            <a:xfrm>
              <a:off x="457200" y="857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76" name="Google Shape;576;p29"/>
            <p:cNvGrpSpPr/>
            <p:nvPr/>
          </p:nvGrpSpPr>
          <p:grpSpPr>
            <a:xfrm>
              <a:off x="7429500" y="4686300"/>
              <a:ext cx="2133600" cy="190500"/>
              <a:chOff x="0" y="0"/>
              <a:chExt cx="2133600" cy="190500"/>
            </a:xfrm>
          </p:grpSpPr>
          <p:sp>
            <p:nvSpPr>
              <p:cNvPr id="577" name="Google Shape;577;p29"/>
              <p:cNvSpPr/>
              <p:nvPr/>
            </p:nvSpPr>
            <p:spPr>
              <a:xfrm>
                <a:off x="0" y="0"/>
                <a:ext cx="1524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9"/>
              <p:cNvSpPr txBox="1"/>
              <p:nvPr/>
            </p:nvSpPr>
            <p:spPr>
              <a:xfrm>
                <a:off x="228600" y="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ANALYTICS &amp; ML</a:t>
                </a:r>
                <a:endParaRPr b="1" sz="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579" name="Google Shape;579;p29"/>
          <p:cNvSpPr txBox="1"/>
          <p:nvPr/>
        </p:nvSpPr>
        <p:spPr>
          <a:xfrm>
            <a:off x="457200" y="11430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This project successfully demonstrates an end-to-end data analytics and machine learning solution designed to optimize food-delivery marketplace operations across customer, restaurant, delivery, and demand dimensions.</a:t>
            </a:r>
            <a:endParaRPr b="0" sz="12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0" name="Google Shape;580;p29"/>
          <p:cNvGrpSpPr/>
          <p:nvPr/>
        </p:nvGrpSpPr>
        <p:grpSpPr>
          <a:xfrm>
            <a:off x="457200" y="2247900"/>
            <a:ext cx="8229600" cy="1143000"/>
            <a:chOff x="0" y="0"/>
            <a:chExt cx="8229600" cy="1143000"/>
          </a:xfrm>
        </p:grpSpPr>
        <p:sp>
          <p:nvSpPr>
            <p:cNvPr id="581" name="Google Shape;581;p29"/>
            <p:cNvSpPr/>
            <p:nvPr/>
          </p:nvSpPr>
          <p:spPr>
            <a:xfrm>
              <a:off x="0" y="0"/>
              <a:ext cx="8229600" cy="114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0" y="0"/>
              <a:ext cx="38100" cy="11430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9"/>
            <p:cNvSpPr txBox="1"/>
            <p:nvPr/>
          </p:nvSpPr>
          <p:spPr>
            <a:xfrm>
              <a:off x="304800" y="190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77777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TAKEAWAY</a:t>
              </a:r>
              <a:endParaRPr b="0" sz="825">
                <a:solidFill>
                  <a:srgbClr val="77777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Machine learning is not only about building accurate models; it is about using data-driven insights to support better business decisions.</a:t>
              </a:r>
              <a:endParaRPr b="0" sz="127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584" name="Google Shape;584;p29"/>
          <p:cNvSpPr txBox="1"/>
          <p:nvPr/>
        </p:nvSpPr>
        <p:spPr>
          <a:xfrm>
            <a:off x="457200" y="37719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6C167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b="1" sz="2400">
              <a:solidFill>
                <a:srgbClr val="06C1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 b="0" sz="1125">
              <a:solidFill>
                <a:srgbClr val="77777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